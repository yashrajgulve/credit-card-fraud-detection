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98d0646-f53e-6f89-2b82-9152b5c31b09}">
          <p14:sldIdLst>
            <p14:sldId id="256"/>
          </p14:sldIdLst>
        </p14:section>
        <p14:section name="Problem" id="{d724aaf9-7112-8ce8-eab1-8f680b11058a}">
          <p14:sldIdLst/>
        </p14:section>
        <p14:section name="Default-1" id="{3fc557cf-10b5-536d-05bb-8dc3509bde07}">
          <p14:sldIdLst>
            <p14:sldId id="257"/>
          </p14:sldIdLst>
        </p14:section>
        <p14:section name="Architecture" id="{eeb3b9cd-5191-3879-9860-5b9201b99bf6}">
          <p14:sldIdLst/>
        </p14:section>
        <p14:section name="Default-2" id="{4c90dcce-90e7-c2f1-c51a-a64a41a9b492}">
          <p14:sldIdLst>
            <p14:sldId id="258"/>
          </p14:sldIdLst>
        </p14:section>
        <p14:section name="HDFS and Hive" id="{503b6124-2122-c820-9619-08895d14b71c}">
          <p14:sldIdLst/>
        </p14:section>
        <p14:section name="Default-3" id="{dcdf1921-01b2-accd-9c09-bca8c34fe1b6}">
          <p14:sldIdLst>
            <p14:sldId id="259"/>
            <p14:sldId id="260"/>
          </p14:sldIdLst>
        </p14:section>
        <p14:section name="Findings" id="{86df82b9-82c0-ac46-bd59-d8bf4869105f}">
          <p14:sldIdLst/>
        </p14:section>
        <p14:section name="Default-4" id="{3b83fd6f-ef94-e251-79d4-7b18dbded657}">
          <p14:sldIdLst>
            <p14:sldId id="261"/>
            <p14:sldId id="262"/>
          </p14:sldIdLst>
        </p14:section>
        <p14:section name="Spark" id="{06dbcf78-6995-67bf-0db1-a370c98681cd}">
          <p14:sldIdLst/>
        </p14:section>
        <p14:section name="Default-5" id="{39912ec4-6c22-da5e-d468-bf3dcf1659b4}">
          <p14:sldIdLst>
            <p14:sldId id="263"/>
            <p14:sldId id="264"/>
          </p14:sldIdLst>
        </p14:section>
        <p14:section name="Integration" id="{7d882cd6-9058-7d50-5742-98d3c5468f2a}">
          <p14:sldIdLst/>
        </p14:section>
        <p14:section name="Default-6" id="{ca636699-f0ff-cb44-1913-6546f372e755}">
          <p14:sldIdLst>
            <p14:sldId id="265"/>
          </p14:sldIdLst>
        </p14:section>
        <p14:section name="Results" id="{5ce69db5-0ec9-3f31-0e67-318608f5c5cd}">
          <p14:sldIdLst/>
        </p14:section>
        <p14:section name="Default-7" id="{82169ac1-1783-89f0-863b-cd79ed1c5421}">
          <p14:sldIdLst>
            <p14:sldId id="266"/>
          </p14:sldIdLst>
        </p14:section>
        <p14:section name="Team" id="{98c76f7e-9071-e579-639b-7a4d3c9cbb83}">
          <p14:sldIdLst>
            <p14:sldId id="268"/>
          </p14:sldIdLst>
        </p14:section>
        <p14:section name="Default-8" id="{20ac7e77-caa4-aec9-f92e-a3b9ffc7650f}">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02B"/>
                </a:solidFill>
                <a:latin typeface="+mn-lt"/>
              </a:defRPr>
            </a:pPr>
            <a:r>
              <a:rPr sz="1300" b="0" i="0" u="none" strike="noStrike">
                <a:solidFill>
                  <a:srgbClr val="14202B"/>
                </a:solidFill>
                <a:latin typeface="+mn-lt"/>
              </a:rPr>
              <a:t>Fraud rate by merchant category (overall 0.53%)</a:t>
            </a:r>
          </a:p>
        </c:rich>
      </c:tx>
      <c:layout/>
      <c:overlay val="0"/>
    </c:title>
    <c:autoTitleDeleted val="0"/>
    <c:plotArea>
      <c:layout/>
      <c:barChart>
        <c:barDir val="bar"/>
        <c:grouping val="clustered"/>
        <c:varyColors val="0"/>
        <c:ser>
          <c:idx val="0"/>
          <c:order val="0"/>
          <c:tx>
            <c:strRef>
              <c:f>Sheet1!$B$1</c:f>
              <c:strCache>
                <c:ptCount val="1"/>
                <c:pt idx="0">
                  <c:v>Fraud rate %</c:v>
                </c:pt>
              </c:strCache>
            </c:strRef>
          </c:tx>
          <c:spPr>
            <a:solidFill>
              <a:srgbClr val="D2412F"/>
            </a:solidFill>
            <a:effectLst/>
          </c:spPr>
          <c:invertIfNegative val="0"/>
          <c:dLbls>
            <c:numFmt formatCode="0.00&quot;%&quot;" sourceLinked="0"/>
            <c:txPr>
              <a:bodyPr/>
              <a:lstStyle/>
              <a:p>
                <a:pPr>
                  <a:defRPr b="0" i="0" strike="noStrike" sz="1100" u="none">
                    <a:solidFill>
                      <a:srgbClr val="14202B"/>
                    </a:solidFill>
                    <a:latin typeface="+mn-lt"/>
                  </a:defRPr>
                </a:pPr>
              </a:p>
            </c:txPr>
            <c:showLegendKey val="0"/>
            <c:showVal val="1"/>
            <c:showCatName val="0"/>
            <c:showSerName val="0"/>
            <c:showPercent val="0"/>
            <c:showBubbleSize val="0"/>
            <c:showLeaderLines val="0"/>
          </c:dLbls>
          <c:dPt>
            <c:idx val="0"/>
            <c:invertIfNegative val="0"/>
            <c:bubble3D val="0"/>
            <c:spPr>
              <a:solidFill>
                <a:srgbClr val="D2412F"/>
              </a:solidFill>
              <a:effectLst/>
            </c:spPr>
          </c:dPt>
          <c:dPt>
            <c:idx val="1"/>
            <c:invertIfNegative val="0"/>
            <c:bubble3D val="0"/>
            <c:spPr>
              <a:solidFill>
                <a:srgbClr val="D2412F"/>
              </a:solidFill>
              <a:effectLst/>
            </c:spPr>
          </c:dPt>
          <c:dPt>
            <c:idx val="2"/>
            <c:invertIfNegative val="0"/>
            <c:bubble3D val="0"/>
            <c:spPr>
              <a:solidFill>
                <a:srgbClr val="D2412F"/>
              </a:solidFill>
              <a:effectLst/>
            </c:spPr>
          </c:dPt>
          <c:dPt>
            <c:idx val="3"/>
            <c:invertIfNegative val="0"/>
            <c:bubble3D val="0"/>
            <c:spPr>
              <a:solidFill>
                <a:srgbClr val="2F6FB5"/>
              </a:solidFill>
              <a:effectLst/>
            </c:spPr>
          </c:dPt>
          <c:dPt>
            <c:idx val="4"/>
            <c:invertIfNegative val="0"/>
            <c:bubble3D val="0"/>
            <c:spPr>
              <a:solidFill>
                <a:srgbClr val="2F6FB5"/>
              </a:solidFill>
              <a:effectLst/>
            </c:spPr>
          </c:dPt>
          <c:dPt>
            <c:idx val="5"/>
            <c:invertIfNegative val="0"/>
            <c:bubble3D val="0"/>
            <c:spPr>
              <a:solidFill>
                <a:srgbClr val="2F6FB5"/>
              </a:solidFill>
              <a:effectLst/>
            </c:spPr>
          </c:dPt>
          <c:dPt>
            <c:idx val="6"/>
            <c:invertIfNegative val="0"/>
            <c:bubble3D val="0"/>
            <c:spPr>
              <a:solidFill>
                <a:srgbClr val="2F6FB5"/>
              </a:solidFill>
              <a:effectLst/>
            </c:spPr>
          </c:dPt>
          <c:dPt>
            <c:idx val="7"/>
            <c:invertIfNegative val="0"/>
            <c:bubble3D val="0"/>
            <c:spPr>
              <a:solidFill>
                <a:srgbClr val="2F6FB5"/>
              </a:solidFill>
              <a:effectLst/>
            </c:spPr>
          </c:dPt>
          <c:dPt>
            <c:idx val="8"/>
            <c:invertIfNegative val="0"/>
            <c:bubble3D val="0"/>
            <c:spPr>
              <a:solidFill>
                <a:srgbClr val="2F6FB5"/>
              </a:solidFill>
              <a:effectLst/>
            </c:spPr>
          </c:dPt>
          <c:dPt>
            <c:idx val="9"/>
            <c:invertIfNegative val="0"/>
            <c:bubble3D val="0"/>
            <c:spPr>
              <a:solidFill>
                <a:srgbClr val="2F6FB5"/>
              </a:solidFill>
              <a:effectLst/>
            </c:spPr>
          </c:dPt>
          <c:dPt>
            <c:idx val="10"/>
            <c:invertIfNegative val="0"/>
            <c:bubble3D val="0"/>
            <c:spPr>
              <a:solidFill>
                <a:srgbClr val="2F6FB5"/>
              </a:solidFill>
              <a:effectLst/>
            </c:spPr>
          </c:dPt>
          <c:dPt>
            <c:idx val="11"/>
            <c:invertIfNegative val="0"/>
            <c:bubble3D val="0"/>
            <c:spPr>
              <a:solidFill>
                <a:srgbClr val="2F6FB5"/>
              </a:solidFill>
              <a:effectLst/>
            </c:spPr>
          </c:dPt>
          <c:cat>
            <c:multiLvlStrRef>
              <c:f>Sheet1!$A$2:$A$13</c:f>
              <c:multiLvlStrCache>
                <c:ptCount val="12"/>
                <c:lvl>
                  <c:pt idx="0">
                    <c:v>Gift Cards</c:v>
                  </c:pt>
                  <c:pt idx="1">
                    <c:v>Jewelry</c:v>
                  </c:pt>
                  <c:pt idx="2">
                    <c:v>Electronics</c:v>
                  </c:pt>
                  <c:pt idx="3">
                    <c:v>Travel</c:v>
                  </c:pt>
                  <c:pt idx="4">
                    <c:v>Online Services</c:v>
                  </c:pt>
                  <c:pt idx="5">
                    <c:v>Entertainment</c:v>
                  </c:pt>
                  <c:pt idx="6">
                    <c:v>Apparel</c:v>
                  </c:pt>
                  <c:pt idx="7">
                    <c:v>Fuel</c:v>
                  </c:pt>
                  <c:pt idx="8">
                    <c:v>Restaurant</c:v>
                  </c:pt>
                  <c:pt idx="9">
                    <c:v>Grocery</c:v>
                  </c:pt>
                  <c:pt idx="10">
                    <c:v>Healthcare</c:v>
                  </c:pt>
                  <c:pt idx="11">
                    <c:v>Utilities</c:v>
                  </c:pt>
                </c:lvl>
              </c:multiLvlStrCache>
            </c:multiLvlStrRef>
          </c:cat>
          <c:val>
            <c:numRef>
              <c:f>Sheet1!$B$2:$B$13</c:f>
              <c:numCache>
                <c:formatCode>General</c:formatCode>
                <c:ptCount val="12"/>
                <c:pt idx="0">
                  <c:v>2.033</c:v>
                </c:pt>
                <c:pt idx="1">
                  <c:v>1.873</c:v>
                </c:pt>
                <c:pt idx="2">
                  <c:v>1.377</c:v>
                </c:pt>
                <c:pt idx="3">
                  <c:v>0.948</c:v>
                </c:pt>
                <c:pt idx="4">
                  <c:v>0.747</c:v>
                </c:pt>
                <c:pt idx="5">
                  <c:v>0.54</c:v>
                </c:pt>
                <c:pt idx="6">
                  <c:v>0.483</c:v>
                </c:pt>
                <c:pt idx="7">
                  <c:v>0.404</c:v>
                </c:pt>
                <c:pt idx="8">
                  <c:v>0.322</c:v>
                </c:pt>
                <c:pt idx="9">
                  <c:v>0.278</c:v>
                </c:pt>
                <c:pt idx="10">
                  <c:v>0.235</c:v>
                </c:pt>
                <c:pt idx="11">
                  <c:v>0.199</c:v>
                </c:pt>
              </c:numCache>
            </c:numRef>
          </c:val>
        </c:ser>
        <c:dLbls>
          <c:numFmt formatCode="0.00&quot;%&quot;" sourceLinked="0"/>
          <c:txPr>
            <a:bodyPr/>
            <a:lstStyle/>
            <a:p>
              <a:pPr>
                <a:defRPr b="0" i="0" strike="noStrike" sz="1100" u="none">
                  <a:solidFill>
                    <a:srgbClr val="14202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202B"/>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02B"/>
                </a:solidFill>
                <a:latin typeface="+mn-lt"/>
              </a:defRPr>
            </a:pPr>
            <a:r>
              <a:rPr sz="1300" b="0" i="0" u="none" strike="noStrike">
                <a:solidFill>
                  <a:srgbClr val="14202B"/>
                </a:solidFill>
                <a:latin typeface="+mn-lt"/>
              </a:rPr>
              <a:t>Fraud rate by hour of day</a:t>
            </a:r>
          </a:p>
        </c:rich>
      </c:tx>
      <c:layout/>
      <c:overlay val="0"/>
    </c:title>
    <c:autoTitleDeleted val="0"/>
    <c:plotArea>
      <c:layout/>
      <c:lineChart>
        <c:varyColors val="0"/>
        <c:ser>
          <c:idx val="0"/>
          <c:order val="0"/>
          <c:tx>
            <c:strRef>
              <c:f>Sheet1!$B$1</c:f>
              <c:strCache>
                <c:ptCount val="1"/>
                <c:pt idx="0">
                  <c:v>Fraud rate %</c:v>
                </c:pt>
              </c:strCache>
            </c:strRef>
          </c:tx>
          <c:spPr>
            <a:solidFill>
              <a:srgbClr val="2F6FB5"/>
            </a:solidFill>
            <a:ln w="31750" cap="flat">
              <a:solidFill>
                <a:srgbClr val="2F6FB5"/>
              </a:solidFill>
              <a:prstDash val="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F6FB5"/>
              </a:solidFill>
              <a:ln w="9525" cap="flat">
                <a:solidFill>
                  <a:srgbClr val="2F6FB5"/>
                </a:solidFill>
                <a:prstDash val="solid"/>
                <a:round/>
              </a:ln>
              <a:effectLst/>
            </c:spPr>
          </c:marker>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1.187</c:v>
                </c:pt>
                <c:pt idx="1">
                  <c:v>1.11</c:v>
                </c:pt>
                <c:pt idx="2">
                  <c:v>1.182</c:v>
                </c:pt>
                <c:pt idx="3">
                  <c:v>1.107</c:v>
                </c:pt>
                <c:pt idx="4">
                  <c:v>1.157</c:v>
                </c:pt>
                <c:pt idx="5">
                  <c:v>0.504</c:v>
                </c:pt>
                <c:pt idx="6">
                  <c:v>0.522</c:v>
                </c:pt>
                <c:pt idx="7">
                  <c:v>0.502</c:v>
                </c:pt>
                <c:pt idx="8">
                  <c:v>0.524</c:v>
                </c:pt>
                <c:pt idx="9">
                  <c:v>0.51</c:v>
                </c:pt>
                <c:pt idx="10">
                  <c:v>0.495</c:v>
                </c:pt>
                <c:pt idx="11">
                  <c:v>0.448</c:v>
                </c:pt>
                <c:pt idx="12">
                  <c:v>0.513</c:v>
                </c:pt>
                <c:pt idx="13">
                  <c:v>0.442</c:v>
                </c:pt>
                <c:pt idx="14">
                  <c:v>0.465</c:v>
                </c:pt>
                <c:pt idx="15">
                  <c:v>0.456</c:v>
                </c:pt>
                <c:pt idx="16">
                  <c:v>0.472</c:v>
                </c:pt>
                <c:pt idx="17">
                  <c:v>0.499</c:v>
                </c:pt>
                <c:pt idx="18">
                  <c:v>0.439</c:v>
                </c:pt>
                <c:pt idx="19">
                  <c:v>0.52</c:v>
                </c:pt>
                <c:pt idx="20">
                  <c:v>0.51</c:v>
                </c:pt>
                <c:pt idx="21">
                  <c:v>0.474</c:v>
                </c:pt>
                <c:pt idx="22">
                  <c:v>0.473</c:v>
                </c:pt>
                <c:pt idx="23">
                  <c:v>1.188</c:v>
                </c:pt>
              </c:numCache>
            </c:numRef>
          </c:val>
          <c:smooth val="0"/>
        </c:ser>
        <c:ser>
          <c:idx val="1"/>
          <c:order val="1"/>
          <c:tx>
            <c:strRef>
              <c:f>Sheet1!$C$1</c:f>
              <c:strCache>
                <c:ptCount val="1"/>
                <c:pt idx="0">
                  <c:v>Overall 0.53%</c:v>
                </c:pt>
              </c:strCache>
            </c:strRef>
          </c:tx>
          <c:spPr>
            <a:solidFill>
              <a:srgbClr val="D2412F"/>
            </a:solidFill>
            <a:ln w="31750" cap="flat">
              <a:solidFill>
                <a:srgbClr val="D2412F"/>
              </a:solidFill>
              <a:prstDash val="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2412F"/>
              </a:solidFill>
              <a:ln w="9525" cap="flat">
                <a:solidFill>
                  <a:srgbClr val="D2412F"/>
                </a:solidFill>
                <a:prstDash val="solid"/>
                <a:round/>
              </a:ln>
              <a:effectLst/>
            </c:spPr>
          </c:marker>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0.529</c:v>
                </c:pt>
                <c:pt idx="1">
                  <c:v>0.529</c:v>
                </c:pt>
                <c:pt idx="2">
                  <c:v>0.529</c:v>
                </c:pt>
                <c:pt idx="3">
                  <c:v>0.529</c:v>
                </c:pt>
                <c:pt idx="4">
                  <c:v>0.529</c:v>
                </c:pt>
                <c:pt idx="5">
                  <c:v>0.529</c:v>
                </c:pt>
                <c:pt idx="6">
                  <c:v>0.529</c:v>
                </c:pt>
                <c:pt idx="7">
                  <c:v>0.529</c:v>
                </c:pt>
                <c:pt idx="8">
                  <c:v>0.529</c:v>
                </c:pt>
                <c:pt idx="9">
                  <c:v>0.529</c:v>
                </c:pt>
                <c:pt idx="10">
                  <c:v>0.529</c:v>
                </c:pt>
                <c:pt idx="11">
                  <c:v>0.529</c:v>
                </c:pt>
                <c:pt idx="12">
                  <c:v>0.529</c:v>
                </c:pt>
                <c:pt idx="13">
                  <c:v>0.529</c:v>
                </c:pt>
                <c:pt idx="14">
                  <c:v>0.529</c:v>
                </c:pt>
                <c:pt idx="15">
                  <c:v>0.529</c:v>
                </c:pt>
                <c:pt idx="16">
                  <c:v>0.529</c:v>
                </c:pt>
                <c:pt idx="17">
                  <c:v>0.529</c:v>
                </c:pt>
                <c:pt idx="18">
                  <c:v>0.529</c:v>
                </c:pt>
                <c:pt idx="19">
                  <c:v>0.529</c:v>
                </c:pt>
                <c:pt idx="20">
                  <c:v>0.529</c:v>
                </c:pt>
                <c:pt idx="21">
                  <c:v>0.529</c:v>
                </c:pt>
                <c:pt idx="22">
                  <c:v>0.529</c:v>
                </c:pt>
                <c:pt idx="23">
                  <c:v>0.529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C"/>
                    </a:solidFill>
                    <a:latin typeface="+mn-lt"/>
                  </a:defRPr>
                </a:pPr>
                <a:r>
                  <a:rPr sz="1100" b="0" i="0" u="none" strike="noStrike">
                    <a:solidFill>
                      <a:srgbClr val="5B6B7C"/>
                    </a:solidFill>
                    <a:latin typeface="+mn-lt"/>
                  </a:rPr>
                  <a:t>Hour of day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9525" cap="flat">
              <a:solidFill>
                <a:srgbClr val="D5DCE5"/>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420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02B"/>
                </a:solidFill>
                <a:latin typeface="+mn-lt"/>
              </a:defRPr>
            </a:pPr>
            <a:r>
              <a:rPr sz="1200" b="0" i="0" u="none" strike="noStrike">
                <a:solidFill>
                  <a:srgbClr val="14202B"/>
                </a:solidFill>
                <a:latin typeface="+mn-lt"/>
              </a:rPr>
              <a:t>Share of fraud caught when only the riskiest transactions are reviewed</a:t>
            </a:r>
          </a:p>
        </c:rich>
      </c:tx>
      <c:layout/>
      <c:overlay val="0"/>
    </c:title>
    <c:autoTitleDeleted val="0"/>
    <c:plotArea>
      <c:layout/>
      <c:barChart>
        <c:barDir val="col"/>
        <c:grouping val="clustered"/>
        <c:varyColors val="0"/>
        <c:ser>
          <c:idx val="0"/>
          <c:order val="0"/>
          <c:tx>
            <c:strRef>
              <c:f>Sheet1!$B$1</c:f>
              <c:strCache>
                <c:ptCount val="1"/>
                <c:pt idx="0">
                  <c:v>Review top 1%</c:v>
                </c:pt>
              </c:strCache>
            </c:strRef>
          </c:tx>
          <c:spPr>
            <a:solidFill>
              <a:srgbClr val="2F6FB5"/>
            </a:solidFill>
            <a:effectLst/>
          </c:spPr>
          <c:invertIfNegative val="0"/>
          <c:dLbls>
            <c:numFmt formatCode="0.0&quot;%&quot;" sourceLinked="0"/>
            <c:txPr>
              <a:bodyPr/>
              <a:lstStyle/>
              <a:p>
                <a:pPr>
                  <a:defRPr b="0" i="0" strike="noStrike" sz="1100" u="none">
                    <a:solidFill>
                      <a:srgbClr val="14202B"/>
                    </a:solidFill>
                    <a:latin typeface="+mn-lt"/>
                  </a:defRPr>
                </a:pPr>
              </a:p>
            </c:txPr>
            <c:showLegendKey val="0"/>
            <c:showVal val="1"/>
            <c:showCatName val="0"/>
            <c:showSerName val="0"/>
            <c:showPercent val="0"/>
            <c:showBubbleSize val="0"/>
            <c:showLeaderLines val="0"/>
          </c:dLbls>
          <c:cat>
            <c:multiLvlStrRef>
              <c:f>Sheet1!$A$2:$A$4</c:f>
              <c:multiLvlStrCache>
                <c:ptCount val="3"/>
                <c:lvl>
                  <c:pt idx="0">
                    <c:v>Logistic Regression</c:v>
                  </c:pt>
                  <c:pt idx="1">
                    <c:v>Random Forest</c:v>
                  </c:pt>
                  <c:pt idx="2">
                    <c:v>Gradient Boosting</c:v>
                  </c:pt>
                </c:lvl>
              </c:multiLvlStrCache>
            </c:multiLvlStrRef>
          </c:cat>
          <c:val>
            <c:numRef>
              <c:f>Sheet1!$B$2:$B$4</c:f>
              <c:numCache>
                <c:formatCode>General</c:formatCode>
                <c:ptCount val="3"/>
                <c:pt idx="0">
                  <c:v>23.6</c:v>
                </c:pt>
                <c:pt idx="1">
                  <c:v>18.23</c:v>
                </c:pt>
                <c:pt idx="2">
                  <c:v>21.33</c:v>
                </c:pt>
              </c:numCache>
            </c:numRef>
          </c:val>
        </c:ser>
        <c:ser>
          <c:idx val="1"/>
          <c:order val="1"/>
          <c:tx>
            <c:strRef>
              <c:f>Sheet1!$C$1</c:f>
              <c:strCache>
                <c:ptCount val="1"/>
                <c:pt idx="0">
                  <c:v>Review top 5%</c:v>
                </c:pt>
              </c:strCache>
            </c:strRef>
          </c:tx>
          <c:spPr>
            <a:solidFill>
              <a:srgbClr val="9FBFE3"/>
            </a:solidFill>
            <a:effectLst/>
          </c:spPr>
          <c:invertIfNegative val="0"/>
          <c:dLbls>
            <c:numFmt formatCode="0.0&quot;%&quot;" sourceLinked="0"/>
            <c:txPr>
              <a:bodyPr/>
              <a:lstStyle/>
              <a:p>
                <a:pPr>
                  <a:defRPr b="0" i="0" strike="noStrike" sz="1100" u="none">
                    <a:solidFill>
                      <a:srgbClr val="14202B"/>
                    </a:solidFill>
                    <a:latin typeface="+mn-lt"/>
                  </a:defRPr>
                </a:pPr>
              </a:p>
            </c:txPr>
            <c:showLegendKey val="0"/>
            <c:showVal val="1"/>
            <c:showCatName val="0"/>
            <c:showSerName val="0"/>
            <c:showPercent val="0"/>
            <c:showBubbleSize val="0"/>
            <c:showLeaderLines val="0"/>
          </c:dLbls>
          <c:cat>
            <c:multiLvlStrRef>
              <c:f>Sheet1!$A$2:$A$4</c:f>
              <c:multiLvlStrCache>
                <c:ptCount val="3"/>
                <c:lvl>
                  <c:pt idx="0">
                    <c:v>Logistic Regression</c:v>
                  </c:pt>
                  <c:pt idx="1">
                    <c:v>Random Forest</c:v>
                  </c:pt>
                  <c:pt idx="2">
                    <c:v>Gradient Boosting</c:v>
                  </c:pt>
                </c:lvl>
              </c:multiLvlStrCache>
            </c:multiLvlStrRef>
          </c:cat>
          <c:val>
            <c:numRef>
              <c:f>Sheet1!$C$2:$C$4</c:f>
              <c:numCache>
                <c:formatCode>General</c:formatCode>
                <c:ptCount val="3"/>
                <c:pt idx="0">
                  <c:v>48.41</c:v>
                </c:pt>
                <c:pt idx="1">
                  <c:v>43.42</c:v>
                </c:pt>
                <c:pt idx="2">
                  <c:v>45.69</c:v>
                </c:pt>
              </c:numCache>
            </c:numRef>
          </c:val>
        </c:ser>
        <c:dLbls>
          <c:numFmt formatCode="0.0&quot;%&quot;" sourceLinked="0"/>
          <c:txPr>
            <a:bodyPr/>
            <a:lstStyle/>
            <a:p>
              <a:pPr>
                <a:defRPr b="0" i="0" strike="noStrike" sz="1100" u="none">
                  <a:solidFill>
                    <a:srgbClr val="1420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02B"/>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420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the team and the one-line story: one million card transactions, about one in 190 is fraud, and we built a pipeline that finds where it concentrates and ranks risk. The dataset is synthetic; say so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Business problem and objective. Mention the data is synthetic with fraud patterns built in, so the findings show the pipeline works rather than real-world fraud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Walk left to right. The CSV goes into HDFS once. Hive and Spark both read it from there. YARN gives Spark its resources. Results go back to HDFS; HBase holds a card lookup table. Everything sits on one Docker Compose network, which is why the host name namenode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NameNode keeps the metadata, DataNode stores the blocks. At 93 MB the file is a single 128 MB block. hdfs_connect.py performs mkdir, upload and verify in one run; add your screenshots of hdfs dfs -ls, fsck and the NameNode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External table means Hive stores only metadata; dropping it does not delete the file in HDFS. Q7 is the most striking result: international plus a burst of activity is about 14 times the overall rate. Show Beeline output here when you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Gift cards, jewelry and electronics run at 2.6 to 3.8 times the overall rate. Online card-not-present is under a third of volume but over two thirds of fraud, about six times the POS rate. Merchant-level results are small-sample noise in this synthetic data, so we do not report them as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23:00 to 04:59 is 6.5% of transactions with a 1.16% fraud rate, against 0.49% for the rest of the day. This pattern was built into the synthetic generator, so it demonstrates the method rather than discovering a real-world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Read from HDFS, check quality, build features and cache, run the aggregations, window functions and a broadcast join, then write results back. Caching matters because the same DataFrame feeds more than ten aggregations and the model split. The full run on one million rows took about 3.6 minutes in local mode on two cores; show the Spark UI from the cluster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Trained on January to September, tested on October to December so the model never sees the future. Fraud rows are weighted because only 0.5% of data is fraud. Accuracy is meaningless here since predicting genuine always scores 99.47%. Logistic regression did best on this data. About 88% of the flagged queue is still genuine, so use the score to prioritise review or trigger extra authentication, not to block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HBase is justified because screening needs one card's profile in milliseconds, which HDFS and Hive scans are not built for. Pig is an independent cross-check, nothing more. Eight automatic checks confirm Hive, Spark and the totals agree. Say plainly which of these you have run in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Each finding maps to an action. Remind the audience the data is synthetic with patterns built in, so these actions illustrate how a real team would use the same pipeline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then questions. Each student should be ready to open their own files and explain them. Fill in the names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what is synthetic and what still needs running in Docker.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2A4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chemeClr val="accent5"/>
                </a:solidFill>
              </a:rPr>
              <a:t>Credit Card Fraud Detection  |  Big Data Analytics Capstone  |  Group 2</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548640"/>
            <a:ext cx="8046720" cy="274320"/>
          </a:xfrm>
          <a:prstGeom prst="rect">
            <a:avLst/>
          </a:prstGeom>
          <a:noFill/>
          <a:ln/>
        </p:spPr>
        <p:txBody>
          <a:bodyPr wrap="square" lIns="0" tIns="0" rIns="0" bIns="0" rtlCol="0" anchor="ctr"/>
          <a:lstStyle/>
          <a:p>
            <a:pPr indent="0" marL="0">
              <a:buNone/>
            </a:pPr>
            <a:r>
              <a:rPr lang="en-US" sz="1200" spc="200" kern="0" dirty="0">
                <a:solidFill>
                  <a:schemeClr val="accent6"/>
                </a:solidFill>
                <a:latin typeface="Calibri" pitchFamily="34" charset="0"/>
                <a:ea typeface="Calibri" pitchFamily="34" charset="-122"/>
                <a:cs typeface="Calibri" pitchFamily="34" charset="-120"/>
              </a:rPr>
              <a:t>HCL GUVI x JAIN UNIVERSITY  |  BIG DATA ANALYTICS CAPSTONE  |  GROUP 2</a:t>
            </a:r>
            <a:endParaRPr lang="en-US" sz="1200" dirty="0"/>
          </a:p>
        </p:txBody>
      </p:sp>
      <p:sp>
        <p:nvSpPr>
          <p:cNvPr id="3" name="Title"/>
          <p:cNvSpPr txBox="1"/>
          <p:nvPr/>
        </p:nvSpPr>
        <p:spPr>
          <a:xfrm>
            <a:off x="548640" y="1234440"/>
            <a:ext cx="5120640" cy="137160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Credit Card Fraud Detection</a:t>
            </a:r>
            <a:endParaRPr lang="en-US" sz="4000" dirty="0"/>
          </a:p>
        </p:txBody>
      </p:sp>
      <p:sp>
        <p:nvSpPr>
          <p:cNvPr id="4" name="Subtitle"/>
          <p:cNvSpPr txBox="1"/>
          <p:nvPr/>
        </p:nvSpPr>
        <p:spPr>
          <a:xfrm>
            <a:off x="548640" y="2743200"/>
            <a:ext cx="4937760" cy="54864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A Big Data pipeline over 1,000,000 card transactions</a:t>
            </a:r>
            <a:endParaRPr lang="en-US" sz="1800" dirty="0"/>
          </a:p>
        </p:txBody>
      </p:sp>
      <p:sp>
        <p:nvSpPr>
          <p:cNvPr id="5" name="Stack"/>
          <p:cNvSpPr txBox="1"/>
          <p:nvPr/>
        </p:nvSpPr>
        <p:spPr>
          <a:xfrm>
            <a:off x="548640" y="3429000"/>
            <a:ext cx="4937760" cy="320040"/>
          </a:xfrm>
          <a:prstGeom prst="rect">
            <a:avLst/>
          </a:prstGeom>
          <a:noFill/>
          <a:ln/>
        </p:spPr>
        <p:txBody>
          <a:bodyPr wrap="square" lIns="0" tIns="0" rIns="0" bIns="0" rtlCol="0" anchor="ctr"/>
          <a:lstStyle/>
          <a:p>
            <a:pPr indent="0" marL="0">
              <a:buNone/>
            </a:pPr>
            <a:r>
              <a:rPr lang="en-US" sz="1400" dirty="0">
                <a:solidFill>
                  <a:schemeClr val="bg1"/>
                </a:solidFill>
                <a:latin typeface="Calibri" pitchFamily="34" charset="0"/>
                <a:ea typeface="Calibri" pitchFamily="34" charset="-122"/>
                <a:cs typeface="Calibri" pitchFamily="34" charset="-120"/>
              </a:rPr>
              <a:t>HDFS  |  Hive  |  Spark / PySpark  |  YARN  |  HBase / Pig  |  Docker</a:t>
            </a:r>
            <a:endParaRPr lang="en-US" sz="1400" dirty="0"/>
          </a:p>
        </p:txBody>
      </p:sp>
      <p:sp>
        <p:nvSpPr>
          <p:cNvPr id="6" name="Team line"/>
          <p:cNvSpPr txBox="1"/>
          <p:nvPr/>
        </p:nvSpPr>
        <p:spPr>
          <a:xfrm>
            <a:off x="548640" y="4297680"/>
            <a:ext cx="4937760" cy="274320"/>
          </a:xfrm>
          <a:prstGeom prst="rect">
            <a:avLst/>
          </a:prstGeom>
          <a:noFill/>
          <a:ln/>
        </p:spPr>
        <p:txBody>
          <a:bodyPr wrap="square" lIns="0" tIns="0" rIns="0" bIns="0" rtlCol="0" anchor="ctr"/>
          <a:lstStyle/>
          <a:p>
            <a:pPr indent="0" marL="0">
              <a:buNone/>
            </a:pPr>
            <a:r>
              <a:rPr lang="en-US" sz="1200" dirty="0">
                <a:solidFill>
                  <a:schemeClr val="accent6"/>
                </a:solidFill>
                <a:latin typeface="Calibri" pitchFamily="34" charset="0"/>
                <a:ea typeface="Calibri" pitchFamily="34" charset="-122"/>
                <a:cs typeface="Calibri" pitchFamily="34" charset="-120"/>
              </a:rPr>
              <a:t>Team: ______________________________</a:t>
            </a:r>
            <a:endParaRPr lang="en-US" sz="1200" dirty="0"/>
          </a:p>
        </p:txBody>
      </p:sp>
      <p:sp>
        <p:nvSpPr>
          <p:cNvPr id="7" name="Stat disc"/>
          <p:cNvSpPr/>
          <p:nvPr/>
        </p:nvSpPr>
        <p:spPr>
          <a:xfrm>
            <a:off x="5989320" y="914400"/>
            <a:ext cx="2651760" cy="2651760"/>
          </a:xfrm>
          <a:prstGeom prst="ellipse">
            <a:avLst/>
          </a:prstGeom>
          <a:solidFill>
            <a:schemeClr val="accent2"/>
          </a:solidFill>
          <a:ln w="12700">
            <a:solidFill>
              <a:schemeClr val="accent2"/>
            </a:solidFill>
            <a:prstDash val="solid"/>
          </a:ln>
        </p:spPr>
      </p:sp>
      <p:sp>
        <p:nvSpPr>
          <p:cNvPr id="8" name="Disc value"/>
          <p:cNvSpPr txBox="1"/>
          <p:nvPr/>
        </p:nvSpPr>
        <p:spPr>
          <a:xfrm>
            <a:off x="5989320" y="1600200"/>
            <a:ext cx="2651760" cy="73152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0.53%</a:t>
            </a:r>
            <a:endParaRPr lang="en-US" sz="4400" dirty="0"/>
          </a:p>
        </p:txBody>
      </p:sp>
      <p:sp>
        <p:nvSpPr>
          <p:cNvPr id="9" name="Disc label"/>
          <p:cNvSpPr txBox="1"/>
          <p:nvPr/>
        </p:nvSpPr>
        <p:spPr>
          <a:xfrm>
            <a:off x="5989320" y="2331720"/>
            <a:ext cx="2651760" cy="64008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of transactions</a:t>
            </a:r>
            <a:endParaRPr lang="en-US" sz="1400" dirty="0"/>
          </a:p>
          <a:p>
            <a:pPr algn="ctr" indent="0" marL="0">
              <a:buNone/>
            </a:pPr>
            <a:r>
              <a:rPr lang="en-US" sz="1400" dirty="0">
                <a:solidFill>
                  <a:schemeClr val="bg1"/>
                </a:solidFill>
                <a:latin typeface="Calibri" pitchFamily="34" charset="0"/>
                <a:ea typeface="Calibri" pitchFamily="34" charset="-122"/>
                <a:cs typeface="Calibri" pitchFamily="34" charset="-120"/>
              </a:rPr>
              <a:t>are fraud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Finding the rare 0.5% before it costs money</a:t>
            </a:r>
            <a:endParaRPr lang="en-US" sz="2600" dirty="0"/>
          </a:p>
        </p:txBody>
      </p:sp>
      <p:sp>
        <p:nvSpPr>
          <p:cNvPr id="4" name="Problem text"/>
          <p:cNvSpPr txBox="1"/>
          <p:nvPr/>
        </p:nvSpPr>
        <p:spPr>
          <a:xfrm>
            <a:off x="457200" y="1188720"/>
            <a:ext cx="4023360" cy="265176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latin typeface="Calibri" pitchFamily="34" charset="0"/>
                <a:ea typeface="Calibri" pitchFamily="34" charset="-122"/>
                <a:cs typeface="Calibri" pitchFamily="34" charset="-120"/>
              </a:rPr>
              <a:t>Business problem</a:t>
            </a:r>
            <a:endParaRPr lang="en-US" sz="16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A card issuer cannot review every transaction. Rules miss new patterns or block genuine customers.</a:t>
            </a:r>
            <a:endParaRPr lang="en-US" sz="1600" dirty="0"/>
          </a:p>
          <a:p>
            <a:pPr indent="0" marL="0">
              <a:spcAft>
                <a:spcPts val="400"/>
              </a:spcAft>
              <a:buNone/>
            </a:pPr>
            <a:r>
              <a:rPr lang="en-US" sz="800" dirty="0">
                <a:solidFill>
                  <a:schemeClr val="tx1"/>
                </a:solidFill>
                <a:latin typeface="Calibri" pitchFamily="34" charset="0"/>
                <a:ea typeface="Calibri" pitchFamily="34" charset="-122"/>
                <a:cs typeface="Calibri" pitchFamily="34" charset="-120"/>
              </a:rPr>
              <a:t> </a:t>
            </a:r>
            <a:endParaRPr lang="en-US" sz="1600" dirty="0"/>
          </a:p>
          <a:p>
            <a:pPr indent="0" marL="0">
              <a:spcAft>
                <a:spcPts val="400"/>
              </a:spcAft>
              <a:buNone/>
            </a:pPr>
            <a:r>
              <a:rPr lang="en-US" sz="1600" b="1" dirty="0">
                <a:solidFill>
                  <a:schemeClr val="accent1"/>
                </a:solidFill>
                <a:latin typeface="Calibri" pitchFamily="34" charset="0"/>
                <a:ea typeface="Calibri" pitchFamily="34" charset="-122"/>
                <a:cs typeface="Calibri" pitchFamily="34" charset="-120"/>
              </a:rPr>
              <a:t>Objective</a:t>
            </a:r>
            <a:endParaRPr lang="en-US" sz="16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Store data in HDFS, query it with Hive, analyse it with Spark, and rank transactions by fraud risk so a small review queue catches the most fraud.</a:t>
            </a:r>
            <a:endParaRPr lang="en-US" sz="1600" dirty="0"/>
          </a:p>
        </p:txBody>
      </p:sp>
      <p:sp>
        <p:nvSpPr>
          <p:cNvPr id="5" name="Stat 1 card"/>
          <p:cNvSpPr/>
          <p:nvPr/>
        </p:nvSpPr>
        <p:spPr>
          <a:xfrm>
            <a:off x="4754880" y="1188720"/>
            <a:ext cx="1920240" cy="1097280"/>
          </a:xfrm>
          <a:prstGeom prst="roundRect">
            <a:avLst>
              <a:gd name="adj" fmla="val 6667"/>
            </a:avLst>
          </a:prstGeom>
          <a:solidFill>
            <a:schemeClr val="bg2"/>
          </a:solidFill>
          <a:ln w="12700">
            <a:solidFill>
              <a:schemeClr val="bg2"/>
            </a:solidFill>
            <a:prstDash val="solid"/>
          </a:ln>
        </p:spPr>
      </p:sp>
      <p:sp>
        <p:nvSpPr>
          <p:cNvPr id="6" name="Stat 1 value"/>
          <p:cNvSpPr txBox="1"/>
          <p:nvPr/>
        </p:nvSpPr>
        <p:spPr>
          <a:xfrm>
            <a:off x="4892040" y="1261872"/>
            <a:ext cx="1645920" cy="603504"/>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1,000,000</a:t>
            </a:r>
            <a:endParaRPr lang="en-US" sz="2800" dirty="0"/>
          </a:p>
        </p:txBody>
      </p:sp>
      <p:sp>
        <p:nvSpPr>
          <p:cNvPr id="7" name="Stat 1 label"/>
          <p:cNvSpPr txBox="1"/>
          <p:nvPr/>
        </p:nvSpPr>
        <p:spPr>
          <a:xfrm>
            <a:off x="4892040" y="1825142"/>
            <a:ext cx="1645920" cy="395021"/>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transactions, 12 months</a:t>
            </a:r>
            <a:endParaRPr lang="en-US" sz="1200" dirty="0"/>
          </a:p>
        </p:txBody>
      </p:sp>
      <p:sp>
        <p:nvSpPr>
          <p:cNvPr id="8" name="Stat 2 card"/>
          <p:cNvSpPr/>
          <p:nvPr/>
        </p:nvSpPr>
        <p:spPr>
          <a:xfrm>
            <a:off x="6858000" y="1188720"/>
            <a:ext cx="1920240" cy="1097280"/>
          </a:xfrm>
          <a:prstGeom prst="roundRect">
            <a:avLst>
              <a:gd name="adj" fmla="val 6667"/>
            </a:avLst>
          </a:prstGeom>
          <a:solidFill>
            <a:schemeClr val="bg2"/>
          </a:solidFill>
          <a:ln w="12700">
            <a:solidFill>
              <a:schemeClr val="bg2"/>
            </a:solidFill>
            <a:prstDash val="solid"/>
          </a:ln>
        </p:spPr>
      </p:sp>
      <p:sp>
        <p:nvSpPr>
          <p:cNvPr id="9" name="Stat 2 value"/>
          <p:cNvSpPr txBox="1"/>
          <p:nvPr/>
        </p:nvSpPr>
        <p:spPr>
          <a:xfrm>
            <a:off x="6995160" y="1261872"/>
            <a:ext cx="1645920" cy="603504"/>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5,290</a:t>
            </a:r>
            <a:endParaRPr lang="en-US" sz="2800" dirty="0"/>
          </a:p>
        </p:txBody>
      </p:sp>
      <p:sp>
        <p:nvSpPr>
          <p:cNvPr id="10" name="Stat 2 label"/>
          <p:cNvSpPr txBox="1"/>
          <p:nvPr/>
        </p:nvSpPr>
        <p:spPr>
          <a:xfrm>
            <a:off x="6995160" y="1825142"/>
            <a:ext cx="1645920" cy="395021"/>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fraud cases (0.529%)</a:t>
            </a:r>
            <a:endParaRPr lang="en-US" sz="1200" dirty="0"/>
          </a:p>
        </p:txBody>
      </p:sp>
      <p:sp>
        <p:nvSpPr>
          <p:cNvPr id="11" name="Stat 3 card"/>
          <p:cNvSpPr/>
          <p:nvPr/>
        </p:nvSpPr>
        <p:spPr>
          <a:xfrm>
            <a:off x="4754880" y="2468880"/>
            <a:ext cx="1920240" cy="1097280"/>
          </a:xfrm>
          <a:prstGeom prst="roundRect">
            <a:avLst>
              <a:gd name="adj" fmla="val 6667"/>
            </a:avLst>
          </a:prstGeom>
          <a:solidFill>
            <a:schemeClr val="bg2"/>
          </a:solidFill>
          <a:ln w="12700">
            <a:solidFill>
              <a:schemeClr val="bg2"/>
            </a:solidFill>
            <a:prstDash val="solid"/>
          </a:ln>
        </p:spPr>
      </p:sp>
      <p:sp>
        <p:nvSpPr>
          <p:cNvPr id="12" name="Stat 3 value"/>
          <p:cNvSpPr txBox="1"/>
          <p:nvPr/>
        </p:nvSpPr>
        <p:spPr>
          <a:xfrm>
            <a:off x="4892040" y="2542032"/>
            <a:ext cx="1645920" cy="603504"/>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Rs 16.3M</a:t>
            </a:r>
            <a:endParaRPr lang="en-US" sz="2800" dirty="0"/>
          </a:p>
        </p:txBody>
      </p:sp>
      <p:sp>
        <p:nvSpPr>
          <p:cNvPr id="13" name="Stat 3 label"/>
          <p:cNvSpPr txBox="1"/>
          <p:nvPr/>
        </p:nvSpPr>
        <p:spPr>
          <a:xfrm>
            <a:off x="4892040" y="3105302"/>
            <a:ext cx="1645920" cy="395021"/>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value of fraud</a:t>
            </a:r>
            <a:endParaRPr lang="en-US" sz="1200" dirty="0"/>
          </a:p>
        </p:txBody>
      </p:sp>
      <p:sp>
        <p:nvSpPr>
          <p:cNvPr id="14" name="Stat 4 card"/>
          <p:cNvSpPr/>
          <p:nvPr/>
        </p:nvSpPr>
        <p:spPr>
          <a:xfrm>
            <a:off x="6858000" y="2468880"/>
            <a:ext cx="1920240" cy="1097280"/>
          </a:xfrm>
          <a:prstGeom prst="roundRect">
            <a:avLst>
              <a:gd name="adj" fmla="val 6667"/>
            </a:avLst>
          </a:prstGeom>
          <a:solidFill>
            <a:schemeClr val="bg2"/>
          </a:solidFill>
          <a:ln w="12700">
            <a:solidFill>
              <a:schemeClr val="bg2"/>
            </a:solidFill>
            <a:prstDash val="solid"/>
          </a:ln>
        </p:spPr>
      </p:sp>
      <p:sp>
        <p:nvSpPr>
          <p:cNvPr id="15" name="Stat 4 value"/>
          <p:cNvSpPr txBox="1"/>
          <p:nvPr/>
        </p:nvSpPr>
        <p:spPr>
          <a:xfrm>
            <a:off x="6995160" y="2542032"/>
            <a:ext cx="1645920" cy="603504"/>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16</a:t>
            </a:r>
            <a:endParaRPr lang="en-US" sz="2800" dirty="0"/>
          </a:p>
        </p:txBody>
      </p:sp>
      <p:sp>
        <p:nvSpPr>
          <p:cNvPr id="16" name="Stat 4 label"/>
          <p:cNvSpPr txBox="1"/>
          <p:nvPr/>
        </p:nvSpPr>
        <p:spPr>
          <a:xfrm>
            <a:off x="6995160" y="3105302"/>
            <a:ext cx="1645920" cy="395021"/>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columns, 83,332 cards</a:t>
            </a:r>
            <a:endParaRPr lang="en-US" sz="1200" dirty="0"/>
          </a:p>
        </p:txBody>
      </p:sp>
      <p:sp>
        <p:nvSpPr>
          <p:cNvPr id="17" name="Data note"/>
          <p:cNvSpPr txBox="1"/>
          <p:nvPr/>
        </p:nvSpPr>
        <p:spPr>
          <a:xfrm>
            <a:off x="457200" y="4114800"/>
            <a:ext cx="8229600" cy="457200"/>
          </a:xfrm>
          <a:prstGeom prst="rect">
            <a:avLst/>
          </a:prstGeom>
          <a:noFill/>
          <a:ln/>
        </p:spPr>
        <p:txBody>
          <a:bodyPr wrap="square" lIns="0" tIns="0" rIns="0" bIns="0" rtlCol="0" anchor="ctr"/>
          <a:lstStyle/>
          <a:p>
            <a:pPr indent="0" marL="0">
              <a:buNone/>
            </a:pPr>
            <a:r>
              <a:rPr lang="en-US" sz="1200" i="1" dirty="0">
                <a:solidFill>
                  <a:schemeClr val="accent5"/>
                </a:solidFill>
                <a:latin typeface="Calibri" pitchFamily="34" charset="0"/>
                <a:ea typeface="Calibri" pitchFamily="34" charset="-122"/>
                <a:cs typeface="Calibri" pitchFamily="34" charset="-120"/>
              </a:rPr>
              <a:t>Synthetic dataset generated by script (seed 42) with fraud patterns built in. Results show the pipeline working, not real-world fraud.</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Every tool runs as a Docker container</a:t>
            </a:r>
            <a:endParaRPr lang="en-US" sz="2600" dirty="0"/>
          </a:p>
        </p:txBody>
      </p:sp>
      <p:sp>
        <p:nvSpPr>
          <p:cNvPr id="4" name="Docker boundary"/>
          <p:cNvSpPr/>
          <p:nvPr/>
        </p:nvSpPr>
        <p:spPr>
          <a:xfrm>
            <a:off x="1417320" y="1097280"/>
            <a:ext cx="7269480" cy="3383280"/>
          </a:xfrm>
          <a:prstGeom prst="roundRect">
            <a:avLst>
              <a:gd name="adj" fmla="val 2703"/>
            </a:avLst>
          </a:prstGeom>
          <a:ln w="19050">
            <a:solidFill>
              <a:schemeClr val="accent1"/>
            </a:solidFill>
            <a:prstDash val="dash"/>
          </a:ln>
        </p:spPr>
      </p:sp>
      <p:sp>
        <p:nvSpPr>
          <p:cNvPr id="5" name="Docker label"/>
          <p:cNvSpPr txBox="1"/>
          <p:nvPr/>
        </p:nvSpPr>
        <p:spPr>
          <a:xfrm>
            <a:off x="1554480" y="1161288"/>
            <a:ext cx="3657600" cy="22860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DOCKER COMPOSE NETWORK</a:t>
            </a:r>
            <a:endParaRPr lang="en-US" sz="1100" dirty="0"/>
          </a:p>
        </p:txBody>
      </p:sp>
      <p:sp>
        <p:nvSpPr>
          <p:cNvPr id="6" name="Source"/>
          <p:cNvSpPr/>
          <p:nvPr/>
        </p:nvSpPr>
        <p:spPr>
          <a:xfrm>
            <a:off x="274320" y="2240280"/>
            <a:ext cx="1005840" cy="914400"/>
          </a:xfrm>
          <a:prstGeom prst="roundRect">
            <a:avLst>
              <a:gd name="adj" fmla="val 8000"/>
            </a:avLst>
          </a:prstGeom>
          <a:solidFill>
            <a:schemeClr val="bg2"/>
          </a:solidFill>
          <a:ln w="12700">
            <a:solidFill>
              <a:schemeClr val="bg2"/>
            </a:solidFill>
            <a:prstDash val="solid"/>
          </a:ln>
        </p:spPr>
      </p:sp>
      <p:sp>
        <p:nvSpPr>
          <p:cNvPr id="7" name="Source text"/>
          <p:cNvSpPr txBox="1"/>
          <p:nvPr/>
        </p:nvSpPr>
        <p:spPr>
          <a:xfrm>
            <a:off x="320040" y="2240280"/>
            <a:ext cx="914400" cy="91440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CSV</a:t>
            </a:r>
            <a:endParaRPr lang="en-US" sz="1500" dirty="0"/>
          </a:p>
          <a:p>
            <a:pPr algn="ctr" indent="0" marL="0">
              <a:buNone/>
            </a:pPr>
            <a:r>
              <a:rPr lang="en-US" sz="1100" dirty="0">
                <a:solidFill>
                  <a:schemeClr val="tx1"/>
                </a:solidFill>
                <a:latin typeface="Calibri" pitchFamily="34" charset="0"/>
                <a:ea typeface="Calibri" pitchFamily="34" charset="-122"/>
                <a:cs typeface="Calibri" pitchFamily="34" charset="-120"/>
              </a:rPr>
              <a:t>your laptop</a:t>
            </a:r>
            <a:endParaRPr lang="en-US" sz="1500" dirty="0"/>
          </a:p>
          <a:p>
            <a:pPr algn="ctr" indent="0" marL="0">
              <a:buNone/>
            </a:pPr>
            <a:r>
              <a:rPr lang="en-US" sz="1100" dirty="0">
                <a:solidFill>
                  <a:schemeClr val="tx1"/>
                </a:solidFill>
                <a:latin typeface="Calibri" pitchFamily="34" charset="0"/>
                <a:ea typeface="Calibri" pitchFamily="34" charset="-122"/>
                <a:cs typeface="Calibri" pitchFamily="34" charset="-120"/>
              </a:rPr>
              <a:t>93 MB</a:t>
            </a:r>
            <a:endParaRPr lang="en-US" sz="1500" dirty="0"/>
          </a:p>
        </p:txBody>
      </p:sp>
      <p:sp>
        <p:nvSpPr>
          <p:cNvPr id="8" name="HDFS"/>
          <p:cNvSpPr/>
          <p:nvPr/>
        </p:nvSpPr>
        <p:spPr>
          <a:xfrm>
            <a:off x="1600200" y="1828800"/>
            <a:ext cx="1600200" cy="1737360"/>
          </a:xfrm>
          <a:prstGeom prst="roundRect">
            <a:avLst>
              <a:gd name="adj" fmla="val 4571"/>
            </a:avLst>
          </a:prstGeom>
          <a:solidFill>
            <a:schemeClr val="accent1"/>
          </a:solidFill>
          <a:ln w="12700">
            <a:solidFill>
              <a:schemeClr val="accent1"/>
            </a:solidFill>
            <a:prstDash val="solid"/>
          </a:ln>
        </p:spPr>
      </p:sp>
      <p:sp>
        <p:nvSpPr>
          <p:cNvPr id="9" name="HDFS text"/>
          <p:cNvSpPr txBox="1"/>
          <p:nvPr/>
        </p:nvSpPr>
        <p:spPr>
          <a:xfrm>
            <a:off x="1645920" y="1828800"/>
            <a:ext cx="1508760" cy="17373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HDFS</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namenode</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datanode</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/data/fraud/raw</a:t>
            </a:r>
            <a:endParaRPr lang="en-US" sz="1500" dirty="0"/>
          </a:p>
        </p:txBody>
      </p:sp>
      <p:sp>
        <p:nvSpPr>
          <p:cNvPr id="10" name="Hive"/>
          <p:cNvSpPr/>
          <p:nvPr/>
        </p:nvSpPr>
        <p:spPr>
          <a:xfrm>
            <a:off x="3474720" y="1828800"/>
            <a:ext cx="1600200" cy="1737360"/>
          </a:xfrm>
          <a:prstGeom prst="roundRect">
            <a:avLst>
              <a:gd name="adj" fmla="val 4571"/>
            </a:avLst>
          </a:prstGeom>
          <a:solidFill>
            <a:schemeClr val="accent1"/>
          </a:solidFill>
          <a:ln w="12700">
            <a:solidFill>
              <a:schemeClr val="accent1"/>
            </a:solidFill>
            <a:prstDash val="solid"/>
          </a:ln>
        </p:spPr>
      </p:sp>
      <p:sp>
        <p:nvSpPr>
          <p:cNvPr id="11" name="Hive text"/>
          <p:cNvSpPr txBox="1"/>
          <p:nvPr/>
        </p:nvSpPr>
        <p:spPr>
          <a:xfrm>
            <a:off x="3520440" y="1828800"/>
            <a:ext cx="1508760" cy="17373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Hive</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metastore</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hiveserver2</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8 SQL queries</a:t>
            </a:r>
            <a:endParaRPr lang="en-US" sz="1500" dirty="0"/>
          </a:p>
        </p:txBody>
      </p:sp>
      <p:sp>
        <p:nvSpPr>
          <p:cNvPr id="12" name="Spark"/>
          <p:cNvSpPr/>
          <p:nvPr/>
        </p:nvSpPr>
        <p:spPr>
          <a:xfrm>
            <a:off x="5349240" y="1828800"/>
            <a:ext cx="1691640" cy="1737360"/>
          </a:xfrm>
          <a:prstGeom prst="roundRect">
            <a:avLst>
              <a:gd name="adj" fmla="val 4324"/>
            </a:avLst>
          </a:prstGeom>
          <a:solidFill>
            <a:schemeClr val="accent1"/>
          </a:solidFill>
          <a:ln w="12700">
            <a:solidFill>
              <a:schemeClr val="accent1"/>
            </a:solidFill>
            <a:prstDash val="solid"/>
          </a:ln>
        </p:spPr>
      </p:sp>
      <p:sp>
        <p:nvSpPr>
          <p:cNvPr id="13" name="Spark text"/>
          <p:cNvSpPr txBox="1"/>
          <p:nvPr/>
        </p:nvSpPr>
        <p:spPr>
          <a:xfrm>
            <a:off x="5394960" y="1828800"/>
            <a:ext cx="1600200" cy="17373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Spark / PySpark</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spark-master</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spark-worker</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jupyter</a:t>
            </a:r>
            <a:endParaRPr lang="en-US" sz="1500" dirty="0"/>
          </a:p>
        </p:txBody>
      </p:sp>
      <p:sp>
        <p:nvSpPr>
          <p:cNvPr id="14" name="Results"/>
          <p:cNvSpPr/>
          <p:nvPr/>
        </p:nvSpPr>
        <p:spPr>
          <a:xfrm>
            <a:off x="7315200" y="1828800"/>
            <a:ext cx="1234440" cy="1737360"/>
          </a:xfrm>
          <a:prstGeom prst="roundRect">
            <a:avLst>
              <a:gd name="adj" fmla="val 5926"/>
            </a:avLst>
          </a:prstGeom>
          <a:solidFill>
            <a:schemeClr val="accent2"/>
          </a:solidFill>
          <a:ln w="12700">
            <a:solidFill>
              <a:schemeClr val="accent2"/>
            </a:solidFill>
            <a:prstDash val="solid"/>
          </a:ln>
        </p:spPr>
      </p:sp>
      <p:sp>
        <p:nvSpPr>
          <p:cNvPr id="15" name="Results text"/>
          <p:cNvSpPr txBox="1"/>
          <p:nvPr/>
        </p:nvSpPr>
        <p:spPr>
          <a:xfrm>
            <a:off x="7360920" y="1828800"/>
            <a:ext cx="1143000" cy="17373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Results</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HDFS</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/results</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11 tables</a:t>
            </a:r>
            <a:endParaRPr lang="en-US" sz="1500" dirty="0"/>
          </a:p>
        </p:txBody>
      </p:sp>
      <p:sp>
        <p:nvSpPr>
          <p:cNvPr id="16" name="Shape 13"/>
          <p:cNvSpPr/>
          <p:nvPr/>
        </p:nvSpPr>
        <p:spPr>
          <a:xfrm>
            <a:off x="1280160" y="2697480"/>
            <a:ext cx="320040" cy="0"/>
          </a:xfrm>
          <a:prstGeom prst="line">
            <a:avLst/>
          </a:prstGeom>
          <a:noFill/>
          <a:ln w="22225">
            <a:solidFill>
              <a:schemeClr val="accent5"/>
            </a:solidFill>
            <a:prstDash val="solid"/>
            <a:tailEnd type="triangle"/>
          </a:ln>
        </p:spPr>
      </p:sp>
      <p:sp>
        <p:nvSpPr>
          <p:cNvPr id="17" name="Shape 14"/>
          <p:cNvSpPr/>
          <p:nvPr/>
        </p:nvSpPr>
        <p:spPr>
          <a:xfrm>
            <a:off x="3200400" y="2697480"/>
            <a:ext cx="274320" cy="0"/>
          </a:xfrm>
          <a:prstGeom prst="line">
            <a:avLst/>
          </a:prstGeom>
          <a:noFill/>
          <a:ln w="22225">
            <a:solidFill>
              <a:schemeClr val="accent5"/>
            </a:solidFill>
            <a:prstDash val="solid"/>
            <a:tailEnd type="triangle"/>
          </a:ln>
        </p:spPr>
      </p:sp>
      <p:sp>
        <p:nvSpPr>
          <p:cNvPr id="18" name="Shape 15"/>
          <p:cNvSpPr/>
          <p:nvPr/>
        </p:nvSpPr>
        <p:spPr>
          <a:xfrm>
            <a:off x="5074920" y="2697480"/>
            <a:ext cx="274320" cy="0"/>
          </a:xfrm>
          <a:prstGeom prst="line">
            <a:avLst/>
          </a:prstGeom>
          <a:noFill/>
          <a:ln w="22225">
            <a:solidFill>
              <a:schemeClr val="accent5"/>
            </a:solidFill>
            <a:prstDash val="solid"/>
            <a:tailEnd type="triangle"/>
          </a:ln>
        </p:spPr>
      </p:sp>
      <p:sp>
        <p:nvSpPr>
          <p:cNvPr id="19" name="Shape 16"/>
          <p:cNvSpPr/>
          <p:nvPr/>
        </p:nvSpPr>
        <p:spPr>
          <a:xfrm>
            <a:off x="7040880" y="2697480"/>
            <a:ext cx="274320" cy="0"/>
          </a:xfrm>
          <a:prstGeom prst="line">
            <a:avLst/>
          </a:prstGeom>
          <a:noFill/>
          <a:ln w="22225">
            <a:solidFill>
              <a:schemeClr val="accent5"/>
            </a:solidFill>
            <a:prstDash val="solid"/>
            <a:tailEnd type="triangle"/>
          </a:ln>
        </p:spPr>
      </p:sp>
      <p:sp>
        <p:nvSpPr>
          <p:cNvPr id="20" name="YARN"/>
          <p:cNvSpPr/>
          <p:nvPr/>
        </p:nvSpPr>
        <p:spPr>
          <a:xfrm>
            <a:off x="5349240" y="3749040"/>
            <a:ext cx="1691640" cy="548640"/>
          </a:xfrm>
          <a:prstGeom prst="roundRect">
            <a:avLst>
              <a:gd name="adj" fmla="val 13333"/>
            </a:avLst>
          </a:prstGeom>
          <a:solidFill>
            <a:schemeClr val="bg2"/>
          </a:solidFill>
          <a:ln w="12700">
            <a:solidFill>
              <a:schemeClr val="bg2"/>
            </a:solidFill>
            <a:prstDash val="solid"/>
          </a:ln>
        </p:spPr>
      </p:sp>
      <p:sp>
        <p:nvSpPr>
          <p:cNvPr id="21" name="YARN text"/>
          <p:cNvSpPr txBox="1"/>
          <p:nvPr/>
        </p:nvSpPr>
        <p:spPr>
          <a:xfrm>
            <a:off x="5394960" y="3749040"/>
            <a:ext cx="160020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YARN</a:t>
            </a:r>
            <a:endParaRPr lang="en-US" sz="1500" dirty="0"/>
          </a:p>
          <a:p>
            <a:pPr algn="ctr" indent="0" marL="0">
              <a:buNone/>
            </a:pPr>
            <a:r>
              <a:rPr lang="en-US" sz="1100" dirty="0">
                <a:solidFill>
                  <a:schemeClr val="tx1"/>
                </a:solidFill>
                <a:latin typeface="Calibri" pitchFamily="34" charset="0"/>
                <a:ea typeface="Calibri" pitchFamily="34" charset="-122"/>
                <a:cs typeface="Calibri" pitchFamily="34" charset="-120"/>
              </a:rPr>
              <a:t>resourcemanager</a:t>
            </a:r>
            <a:endParaRPr lang="en-US" sz="1500" dirty="0"/>
          </a:p>
        </p:txBody>
      </p:sp>
      <p:sp>
        <p:nvSpPr>
          <p:cNvPr id="22" name="HBase"/>
          <p:cNvSpPr/>
          <p:nvPr/>
        </p:nvSpPr>
        <p:spPr>
          <a:xfrm>
            <a:off x="7315200" y="3749040"/>
            <a:ext cx="594360" cy="548640"/>
          </a:xfrm>
          <a:prstGeom prst="roundRect">
            <a:avLst>
              <a:gd name="adj" fmla="val 13333"/>
            </a:avLst>
          </a:prstGeom>
          <a:solidFill>
            <a:schemeClr val="bg2"/>
          </a:solidFill>
          <a:ln w="12700">
            <a:solidFill>
              <a:schemeClr val="bg2"/>
            </a:solidFill>
            <a:prstDash val="solid"/>
          </a:ln>
        </p:spPr>
      </p:sp>
      <p:sp>
        <p:nvSpPr>
          <p:cNvPr id="23" name="HBase text"/>
          <p:cNvSpPr txBox="1"/>
          <p:nvPr/>
        </p:nvSpPr>
        <p:spPr>
          <a:xfrm>
            <a:off x="7360920" y="3749040"/>
            <a:ext cx="50292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HBase</a:t>
            </a:r>
            <a:endParaRPr lang="en-US" sz="1500" dirty="0"/>
          </a:p>
          <a:p>
            <a:pPr algn="ctr" indent="0" marL="0">
              <a:buNone/>
            </a:pPr>
            <a:endParaRPr lang="en-US" sz="1500" dirty="0"/>
          </a:p>
        </p:txBody>
      </p:sp>
      <p:sp>
        <p:nvSpPr>
          <p:cNvPr id="24" name="Pig"/>
          <p:cNvSpPr/>
          <p:nvPr/>
        </p:nvSpPr>
        <p:spPr>
          <a:xfrm>
            <a:off x="7955280" y="3749040"/>
            <a:ext cx="594360" cy="548640"/>
          </a:xfrm>
          <a:prstGeom prst="roundRect">
            <a:avLst>
              <a:gd name="adj" fmla="val 13333"/>
            </a:avLst>
          </a:prstGeom>
          <a:solidFill>
            <a:schemeClr val="bg2"/>
          </a:solidFill>
          <a:ln w="12700">
            <a:solidFill>
              <a:schemeClr val="bg2"/>
            </a:solidFill>
            <a:prstDash val="solid"/>
          </a:ln>
        </p:spPr>
      </p:sp>
      <p:sp>
        <p:nvSpPr>
          <p:cNvPr id="25" name="Pig text"/>
          <p:cNvSpPr txBox="1"/>
          <p:nvPr/>
        </p:nvSpPr>
        <p:spPr>
          <a:xfrm>
            <a:off x="8001000" y="3749040"/>
            <a:ext cx="50292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Pig</a:t>
            </a:r>
            <a:endParaRPr lang="en-US" sz="1500" dirty="0"/>
          </a:p>
          <a:p>
            <a:pPr algn="ctr" indent="0" marL="0">
              <a:buNone/>
            </a:pPr>
            <a:endParaRPr lang="en-US" sz="1500" dirty="0"/>
          </a:p>
        </p:txBody>
      </p:sp>
      <p:sp>
        <p:nvSpPr>
          <p:cNvPr id="26" name="Architecture note"/>
          <p:cNvSpPr txBox="1"/>
          <p:nvPr/>
        </p:nvSpPr>
        <p:spPr>
          <a:xfrm>
            <a:off x="1600200" y="3840480"/>
            <a:ext cx="3566160" cy="502920"/>
          </a:xfrm>
          <a:prstGeom prst="rect">
            <a:avLst/>
          </a:prstGeom>
          <a:noFill/>
          <a:ln/>
        </p:spPr>
        <p:txBody>
          <a:bodyPr wrap="square" lIns="0" tIns="0" rIns="0" bIns="0" rtlCol="0" anchor="ctr"/>
          <a:lstStyle/>
          <a:p>
            <a:pPr indent="0" marL="0">
              <a:buNone/>
            </a:pPr>
            <a:r>
              <a:rPr lang="en-US" sz="1200" i="1" dirty="0">
                <a:solidFill>
                  <a:schemeClr val="accent5"/>
                </a:solidFill>
                <a:latin typeface="Calibri" pitchFamily="34" charset="0"/>
                <a:ea typeface="Calibri" pitchFamily="34" charset="-122"/>
                <a:cs typeface="Calibri" pitchFamily="34" charset="-120"/>
              </a:rPr>
              <a:t>Hive and Spark read the same file. One copy of the data, two ways to ask questions.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HDFS: one copy of the data for Hive and Spark</a:t>
            </a:r>
            <a:endParaRPr lang="en-US" sz="2600" dirty="0"/>
          </a:p>
        </p:txBody>
      </p:sp>
      <p:sp>
        <p:nvSpPr>
          <p:cNvPr id="4" name="Code block"/>
          <p:cNvSpPr txBox="1"/>
          <p:nvPr/>
        </p:nvSpPr>
        <p:spPr>
          <a:xfrm>
            <a:off x="457200" y="1188720"/>
            <a:ext cx="3291840" cy="2926080"/>
          </a:xfrm>
          <a:prstGeom prst="rect">
            <a:avLst/>
          </a:prstGeom>
          <a:solidFill>
            <a:schemeClr val="bg2"/>
          </a:solidFill>
          <a:ln/>
        </p:spPr>
        <p:txBody>
          <a:bodyPr wrap="square" lIns="1524" tIns="1524" rIns="1524" bIns="1524"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/data/fraud/</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raw/</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transactions.csv</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processed/</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results/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category_summary/</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channel_summary/</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hour_summary/</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card_risk_profile/ ...</a:t>
            </a:r>
            <a:endParaRPr lang="en-US" sz="1300" dirty="0"/>
          </a:p>
        </p:txBody>
      </p:sp>
      <p:sp>
        <p:nvSpPr>
          <p:cNvPr id="5" name="HDFS commands"/>
          <p:cNvSpPr txBox="1"/>
          <p:nvPr/>
        </p:nvSpPr>
        <p:spPr>
          <a:xfrm>
            <a:off x="4023360" y="1188720"/>
            <a:ext cx="4663440" cy="3108960"/>
          </a:xfrm>
          <a:prstGeom prst="rect">
            <a:avLst/>
          </a:prstGeom>
          <a:noFill/>
          <a:ln/>
        </p:spPr>
        <p:txBody>
          <a:bodyPr wrap="square" lIns="0" tIns="0" rIns="0" bIns="0" rtlCol="0" anchor="t"/>
          <a:lstStyle/>
          <a:p>
            <a:pPr indent="0" marL="0">
              <a:spcAft>
                <a:spcPts val="500"/>
              </a:spcAft>
              <a:buNone/>
            </a:pPr>
            <a:r>
              <a:rPr lang="en-US" sz="1600" b="1" dirty="0">
                <a:solidFill>
                  <a:schemeClr val="accent1"/>
                </a:solidFill>
                <a:latin typeface="Calibri" pitchFamily="34" charset="0"/>
                <a:ea typeface="Calibri" pitchFamily="34" charset="-122"/>
                <a:cs typeface="Calibri" pitchFamily="34" charset="-120"/>
              </a:rPr>
              <a:t>Commands</a:t>
            </a:r>
            <a:endParaRPr lang="en-US" sz="1600" dirty="0"/>
          </a:p>
          <a:p>
            <a:pPr indent="0" marL="0">
              <a:spcAft>
                <a:spcPts val="500"/>
              </a:spcAft>
              <a:buNone/>
            </a:pPr>
            <a:r>
              <a:rPr lang="en-US" sz="1200" dirty="0">
                <a:solidFill>
                  <a:schemeClr val="tx1"/>
                </a:solidFill>
                <a:latin typeface="Courier New" pitchFamily="34" charset="0"/>
                <a:ea typeface="Courier New" pitchFamily="34" charset="-122"/>
                <a:cs typeface="Courier New" pitchFamily="34" charset="-120"/>
              </a:rPr>
              <a:t>hdfs dfs -mkdir -p /data/fraud/raw</a:t>
            </a:r>
            <a:endParaRPr lang="en-US" sz="1600" dirty="0"/>
          </a:p>
          <a:p>
            <a:pPr indent="0" marL="0">
              <a:spcAft>
                <a:spcPts val="500"/>
              </a:spcAft>
              <a:buNone/>
            </a:pPr>
            <a:r>
              <a:rPr lang="en-US" sz="1200" dirty="0">
                <a:solidFill>
                  <a:schemeClr val="tx1"/>
                </a:solidFill>
                <a:latin typeface="Courier New" pitchFamily="34" charset="0"/>
                <a:ea typeface="Courier New" pitchFamily="34" charset="-122"/>
                <a:cs typeface="Courier New" pitchFamily="34" charset="-120"/>
              </a:rPr>
              <a:t>hdfs dfs -put transactions.csv /data/fraud/raw/</a:t>
            </a:r>
            <a:endParaRPr lang="en-US" sz="1600" dirty="0"/>
          </a:p>
          <a:p>
            <a:pPr indent="0" marL="0">
              <a:spcAft>
                <a:spcPts val="500"/>
              </a:spcAft>
              <a:buNone/>
            </a:pPr>
            <a:r>
              <a:rPr lang="en-US" sz="1200" dirty="0">
                <a:solidFill>
                  <a:schemeClr val="tx1"/>
                </a:solidFill>
                <a:latin typeface="Courier New" pitchFamily="34" charset="0"/>
                <a:ea typeface="Courier New" pitchFamily="34" charset="-122"/>
                <a:cs typeface="Courier New" pitchFamily="34" charset="-120"/>
              </a:rPr>
              <a:t>hdfs dfs -ls -h /data/fraud/raw/</a:t>
            </a:r>
            <a:endParaRPr lang="en-US" sz="1600" dirty="0"/>
          </a:p>
          <a:p>
            <a:pPr indent="0" marL="0">
              <a:spcAft>
                <a:spcPts val="500"/>
              </a:spcAft>
              <a:buNone/>
            </a:pPr>
            <a:r>
              <a:rPr lang="en-US" sz="1200" dirty="0">
                <a:solidFill>
                  <a:schemeClr val="tx1"/>
                </a:solidFill>
                <a:latin typeface="Courier New" pitchFamily="34" charset="0"/>
                <a:ea typeface="Courier New" pitchFamily="34" charset="-122"/>
                <a:cs typeface="Courier New" pitchFamily="34" charset="-120"/>
              </a:rPr>
              <a:t>hdfs fsck ... -files -blocks -locations</a:t>
            </a:r>
            <a:endParaRPr lang="en-US" sz="1600" dirty="0"/>
          </a:p>
          <a:p>
            <a:pPr indent="0" marL="0">
              <a:spcAft>
                <a:spcPts val="500"/>
              </a:spcAft>
              <a:buNone/>
            </a:pPr>
            <a:r>
              <a:rPr lang="en-US" sz="600" dirty="0">
                <a:solidFill>
                  <a:schemeClr val="tx1"/>
                </a:solidFill>
                <a:latin typeface="Calibri" pitchFamily="34" charset="0"/>
                <a:ea typeface="Calibri" pitchFamily="34" charset="-122"/>
                <a:cs typeface="Calibri" pitchFamily="34" charset="-120"/>
              </a:rPr>
              <a:t> </a:t>
            </a:r>
            <a:endParaRPr lang="en-US" sz="1600" dirty="0"/>
          </a:p>
          <a:p>
            <a:pPr indent="0" marL="0">
              <a:spcAft>
                <a:spcPts val="500"/>
              </a:spcAft>
              <a:buNone/>
            </a:pPr>
            <a:r>
              <a:rPr lang="en-US" sz="1400" dirty="0">
                <a:solidFill>
                  <a:schemeClr val="tx1"/>
                </a:solidFill>
                <a:latin typeface="Calibri" pitchFamily="34" charset="0"/>
                <a:ea typeface="Calibri" pitchFamily="34" charset="-122"/>
                <a:cs typeface="Calibri" pitchFamily="34" charset="-120"/>
              </a:rPr>
              <a:t>NameNode holds file-to-block metadata. DataNodes store the blocks and replicate them.</a:t>
            </a:r>
            <a:endParaRPr lang="en-US" sz="1600" dirty="0"/>
          </a:p>
          <a:p>
            <a:pPr indent="0" marL="0">
              <a:spcAft>
                <a:spcPts val="500"/>
              </a:spcAft>
              <a:buNone/>
            </a:pPr>
            <a:r>
              <a:rPr lang="en-US" sz="1400" dirty="0">
                <a:solidFill>
                  <a:schemeClr val="tx1"/>
                </a:solidFill>
                <a:latin typeface="Calibri" pitchFamily="34" charset="0"/>
                <a:ea typeface="Calibri" pitchFamily="34" charset="-122"/>
                <a:cs typeface="Calibri" pitchFamily="34" charset="-120"/>
              </a:rPr>
              <a:t>spark/hdfs_connect.py does mkdir, upload and verify in one run.</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Hive: an external table and eight SQL queries</a:t>
            </a:r>
            <a:endParaRPr lang="en-US" sz="2600" dirty="0"/>
          </a:p>
        </p:txBody>
      </p:sp>
      <p:sp>
        <p:nvSpPr>
          <p:cNvPr id="4" name="Code block"/>
          <p:cNvSpPr txBox="1"/>
          <p:nvPr/>
        </p:nvSpPr>
        <p:spPr>
          <a:xfrm>
            <a:off x="457200" y="1188720"/>
            <a:ext cx="3931920" cy="3383280"/>
          </a:xfrm>
          <a:prstGeom prst="rect">
            <a:avLst/>
          </a:prstGeom>
          <a:solidFill>
            <a:schemeClr val="bg2"/>
          </a:solidFill>
          <a:ln/>
        </p:spPr>
        <p:txBody>
          <a:bodyPr wrap="square" lIns="1524" tIns="1524" rIns="1524" bIns="1524"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CREATE EXTERNAL TABLE transactions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transaction_id STRING,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transaction_ts TIMESTAMP,</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card_id STRING,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merchant_category STRING,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channel STRING,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amount DOUBLE,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card_present INT,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 16 columns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is_fraud INT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ROW FORMAT DELIMITED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FIELDS TERMINATED BY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STORED AS TEXTFILE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LOCATION '/data/fraud/raw/'</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TBLPROPERTIES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('skip.header.line.count'='1');</a:t>
            </a:r>
            <a:endParaRPr lang="en-US" sz="1100" dirty="0"/>
          </a:p>
        </p:txBody>
      </p:sp>
      <p:sp>
        <p:nvSpPr>
          <p:cNvPr id="5" name="Q7 title"/>
          <p:cNvSpPr txBox="1"/>
          <p:nvPr/>
        </p:nvSpPr>
        <p:spPr>
          <a:xfrm>
            <a:off x="4663440" y="1188720"/>
            <a:ext cx="402336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Q7: international use and transaction bursts</a:t>
            </a:r>
            <a:endParaRPr lang="en-US" sz="1400" dirty="0"/>
          </a:p>
        </p:txBody>
      </p:sp>
      <p:graphicFrame>
        <p:nvGraphicFramePr>
          <p:cNvPr id="6" name="Q7 table"/>
          <p:cNvGraphicFramePr>
            <a:graphicFrameLocks noGrp="1"/>
          </p:cNvGraphicFramePr>
          <p:nvPr>
            <p:extLst>
              <p:ext uri="{D42A27DB-BD31-4B8C-83A1-F6EECF244321}">
                <p14:modId xmlns:p14="http://schemas.microsoft.com/office/powerpoint/2010/main" val="1579011935"/>
              </p:ext>
            </p:extLst>
          </p:nvPr>
        </p:nvGraphicFramePr>
        <p:xfrm>
          <a:off x="4663440" y="1554480"/>
          <a:ext cx="4023360" cy="914400"/>
        </p:xfrm>
        <a:graphic>
          <a:graphicData uri="http://schemas.openxmlformats.org/drawingml/2006/table">
            <a:tbl>
              <a:tblPr/>
              <a:tblGrid>
                <a:gridCol w="1005840"/>
                <a:gridCol w="914400"/>
                <a:gridCol w="1005840"/>
                <a:gridCol w="109728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International</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2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24h txns</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2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Txns</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2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Fraud rate</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2A47"/>
                    </a:solidFill>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5 or more</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2,686</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b="1" dirty="0">
                          <a:solidFill>
                            <a:srgbClr val="D2412F"/>
                          </a:solidFill>
                          <a:latin typeface="Calibri" pitchFamily="34" charset="0"/>
                          <a:ea typeface="Calibri" pitchFamily="34" charset="-122"/>
                          <a:cs typeface="Calibri" pitchFamily="34" charset="-120"/>
                        </a:rPr>
                        <a:t>7.41%</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31,798</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2.39%</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5 or more</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76,034</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889,482</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0.38%</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7" name="Q7 takeaway"/>
          <p:cNvSpPr txBox="1"/>
          <p:nvPr/>
        </p:nvSpPr>
        <p:spPr>
          <a:xfrm>
            <a:off x="4663440" y="3429000"/>
            <a:ext cx="40233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About 14 times the overall 0.53% rate. Other queries cover category, channel, hour, amount, month and merchant.</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Gift cards and online payments lead on fraud</a:t>
            </a:r>
            <a:endParaRPr lang="en-US" sz="2600" dirty="0"/>
          </a:p>
        </p:txBody>
      </p:sp>
      <p:graphicFrame>
        <p:nvGraphicFramePr>
          <p:cNvPr id="4" name="Chart 0" descr=""/>
          <p:cNvGraphicFramePr/>
          <p:nvPr/>
        </p:nvGraphicFramePr>
        <p:xfrm>
          <a:off x="365760" y="105156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5" name="Channel card"/>
          <p:cNvSpPr/>
          <p:nvPr/>
        </p:nvSpPr>
        <p:spPr>
          <a:xfrm>
            <a:off x="5760720" y="1188720"/>
            <a:ext cx="2926080" cy="1143000"/>
          </a:xfrm>
          <a:prstGeom prst="roundRect">
            <a:avLst>
              <a:gd name="adj" fmla="val 6400"/>
            </a:avLst>
          </a:prstGeom>
          <a:solidFill>
            <a:schemeClr val="bg2"/>
          </a:solidFill>
          <a:ln w="12700">
            <a:solidFill>
              <a:schemeClr val="bg2"/>
            </a:solidFill>
            <a:prstDash val="solid"/>
          </a:ln>
        </p:spPr>
      </p:sp>
      <p:sp>
        <p:nvSpPr>
          <p:cNvPr id="6" name="Channel value"/>
          <p:cNvSpPr txBox="1"/>
          <p:nvPr/>
        </p:nvSpPr>
        <p:spPr>
          <a:xfrm>
            <a:off x="5897880" y="1261872"/>
            <a:ext cx="2651760" cy="62865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1.22%</a:t>
            </a:r>
            <a:endParaRPr lang="en-US" sz="2800" dirty="0"/>
          </a:p>
        </p:txBody>
      </p:sp>
      <p:sp>
        <p:nvSpPr>
          <p:cNvPr id="7" name="Channel label"/>
          <p:cNvSpPr txBox="1"/>
          <p:nvPr/>
        </p:nvSpPr>
        <p:spPr>
          <a:xfrm>
            <a:off x="5897880" y="1851660"/>
            <a:ext cx="2651760" cy="4114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Online, card not present: 68.8% of all fraud</a:t>
            </a:r>
            <a:endParaRPr lang="en-US" sz="1200" dirty="0"/>
          </a:p>
        </p:txBody>
      </p:sp>
      <p:sp>
        <p:nvSpPr>
          <p:cNvPr id="8" name="Category card"/>
          <p:cNvSpPr/>
          <p:nvPr/>
        </p:nvSpPr>
        <p:spPr>
          <a:xfrm>
            <a:off x="5760720" y="2514600"/>
            <a:ext cx="2926080" cy="1143000"/>
          </a:xfrm>
          <a:prstGeom prst="roundRect">
            <a:avLst>
              <a:gd name="adj" fmla="val 6400"/>
            </a:avLst>
          </a:prstGeom>
          <a:solidFill>
            <a:schemeClr val="bg2"/>
          </a:solidFill>
          <a:ln w="12700">
            <a:solidFill>
              <a:schemeClr val="bg2"/>
            </a:solidFill>
            <a:prstDash val="solid"/>
          </a:ln>
        </p:spPr>
      </p:sp>
      <p:sp>
        <p:nvSpPr>
          <p:cNvPr id="9" name="Category value"/>
          <p:cNvSpPr txBox="1"/>
          <p:nvPr/>
        </p:nvSpPr>
        <p:spPr>
          <a:xfrm>
            <a:off x="5897880" y="2587752"/>
            <a:ext cx="2651760" cy="62865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2.03%</a:t>
            </a:r>
            <a:endParaRPr lang="en-US" sz="2800" dirty="0"/>
          </a:p>
        </p:txBody>
      </p:sp>
      <p:sp>
        <p:nvSpPr>
          <p:cNvPr id="10" name="Category label"/>
          <p:cNvSpPr txBox="1"/>
          <p:nvPr/>
        </p:nvSpPr>
        <p:spPr>
          <a:xfrm>
            <a:off x="5897880" y="3177540"/>
            <a:ext cx="2651760" cy="4114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Gift cards, 3.8x the overall rate</a:t>
            </a:r>
            <a:endParaRPr lang="en-US" sz="1200" dirty="0"/>
          </a:p>
        </p:txBody>
      </p:sp>
      <p:sp>
        <p:nvSpPr>
          <p:cNvPr id="11" name="Amount note"/>
          <p:cNvSpPr txBox="1"/>
          <p:nvPr/>
        </p:nvSpPr>
        <p:spPr>
          <a:xfrm>
            <a:off x="5760720" y="3840480"/>
            <a:ext cx="2926080" cy="73152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POS and contactless sit near 0.2%. Amount matters too: 0.37% under Rs 500 rising to 1.01% above Rs 10,000.</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Night fraud is more than twice the daytime rate</a:t>
            </a:r>
            <a:endParaRPr lang="en-US" sz="2600" dirty="0"/>
          </a:p>
        </p:txBody>
      </p:sp>
      <p:graphicFrame>
        <p:nvGraphicFramePr>
          <p:cNvPr id="4" name="Chart 0" descr=""/>
          <p:cNvGraphicFramePr/>
          <p:nvPr/>
        </p:nvGraphicFramePr>
        <p:xfrm>
          <a:off x="365760" y="1051560"/>
          <a:ext cx="5669280" cy="3611880"/>
        </p:xfrm>
        <a:graphic xmlns:a="http://schemas.openxmlformats.org/drawingml/2006/main">
          <a:graphicData uri="http://schemas.openxmlformats.org/drawingml/2006/chart">
            <c:chart xmlns:c="http://schemas.openxmlformats.org/drawingml/2006/chart" r:id="rId1"/>
          </a:graphicData>
        </a:graphic>
      </p:graphicFrame>
      <p:sp>
        <p:nvSpPr>
          <p:cNvPr id="5" name="Night card"/>
          <p:cNvSpPr/>
          <p:nvPr/>
        </p:nvSpPr>
        <p:spPr>
          <a:xfrm>
            <a:off x="6309360" y="1188720"/>
            <a:ext cx="2377440" cy="1143000"/>
          </a:xfrm>
          <a:prstGeom prst="roundRect">
            <a:avLst>
              <a:gd name="adj" fmla="val 6400"/>
            </a:avLst>
          </a:prstGeom>
          <a:solidFill>
            <a:schemeClr val="bg2"/>
          </a:solidFill>
          <a:ln w="12700">
            <a:solidFill>
              <a:schemeClr val="bg2"/>
            </a:solidFill>
            <a:prstDash val="solid"/>
          </a:ln>
        </p:spPr>
      </p:sp>
      <p:sp>
        <p:nvSpPr>
          <p:cNvPr id="6" name="Night value"/>
          <p:cNvSpPr txBox="1"/>
          <p:nvPr/>
        </p:nvSpPr>
        <p:spPr>
          <a:xfrm>
            <a:off x="6446520" y="1261872"/>
            <a:ext cx="2103120" cy="62865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1.16%</a:t>
            </a:r>
            <a:endParaRPr lang="en-US" sz="2800" dirty="0"/>
          </a:p>
        </p:txBody>
      </p:sp>
      <p:sp>
        <p:nvSpPr>
          <p:cNvPr id="7" name="Night label"/>
          <p:cNvSpPr txBox="1"/>
          <p:nvPr/>
        </p:nvSpPr>
        <p:spPr>
          <a:xfrm>
            <a:off x="6446520" y="1851660"/>
            <a:ext cx="2103120" cy="4114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23:00 to 04:59 (6.5% of volume)</a:t>
            </a:r>
            <a:endParaRPr lang="en-US" sz="1200" dirty="0"/>
          </a:p>
        </p:txBody>
      </p:sp>
      <p:sp>
        <p:nvSpPr>
          <p:cNvPr id="8" name="Day card"/>
          <p:cNvSpPr/>
          <p:nvPr/>
        </p:nvSpPr>
        <p:spPr>
          <a:xfrm>
            <a:off x="6309360" y="2514600"/>
            <a:ext cx="2377440" cy="1143000"/>
          </a:xfrm>
          <a:prstGeom prst="roundRect">
            <a:avLst>
              <a:gd name="adj" fmla="val 6400"/>
            </a:avLst>
          </a:prstGeom>
          <a:solidFill>
            <a:schemeClr val="bg2"/>
          </a:solidFill>
          <a:ln w="12700">
            <a:solidFill>
              <a:schemeClr val="bg2"/>
            </a:solidFill>
            <a:prstDash val="solid"/>
          </a:ln>
        </p:spPr>
      </p:sp>
      <p:sp>
        <p:nvSpPr>
          <p:cNvPr id="9" name="Day value"/>
          <p:cNvSpPr txBox="1"/>
          <p:nvPr/>
        </p:nvSpPr>
        <p:spPr>
          <a:xfrm>
            <a:off x="6446520" y="2587752"/>
            <a:ext cx="2103120" cy="62865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0.49%</a:t>
            </a:r>
            <a:endParaRPr lang="en-US" sz="2800" dirty="0"/>
          </a:p>
        </p:txBody>
      </p:sp>
      <p:sp>
        <p:nvSpPr>
          <p:cNvPr id="10" name="Day label"/>
          <p:cNvSpPr txBox="1"/>
          <p:nvPr/>
        </p:nvSpPr>
        <p:spPr>
          <a:xfrm>
            <a:off x="6446520" y="3177540"/>
            <a:ext cx="2103120" cy="4114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all other hours</a:t>
            </a:r>
            <a:endParaRPr lang="en-US" sz="1200" dirty="0"/>
          </a:p>
        </p:txBody>
      </p:sp>
      <p:sp>
        <p:nvSpPr>
          <p:cNvPr id="11" name="Month note"/>
          <p:cNvSpPr txBox="1"/>
          <p:nvPr/>
        </p:nvSpPr>
        <p:spPr>
          <a:xfrm>
            <a:off x="6309360" y="3840480"/>
            <a:ext cx="2377440" cy="73152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No monthly pattern: the rate stays between 0.50% and 0.56% all year.</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Spark / PySpark: from raw CSV to fraud-risk scores</a:t>
            </a:r>
            <a:endParaRPr lang="en-US" sz="2600" dirty="0"/>
          </a:p>
        </p:txBody>
      </p:sp>
      <p:sp>
        <p:nvSpPr>
          <p:cNvPr id="4" name="Step card 1"/>
          <p:cNvSpPr/>
          <p:nvPr/>
        </p:nvSpPr>
        <p:spPr>
          <a:xfrm>
            <a:off x="457200" y="1188720"/>
            <a:ext cx="1554480" cy="1965960"/>
          </a:xfrm>
          <a:prstGeom prst="roundRect">
            <a:avLst>
              <a:gd name="adj" fmla="val 4706"/>
            </a:avLst>
          </a:prstGeom>
          <a:solidFill>
            <a:schemeClr val="bg2"/>
          </a:solidFill>
          <a:ln w="12700">
            <a:solidFill>
              <a:schemeClr val="bg2"/>
            </a:solidFill>
            <a:prstDash val="solid"/>
          </a:ln>
        </p:spPr>
      </p:sp>
      <p:sp>
        <p:nvSpPr>
          <p:cNvPr id="5" name="Step badge 1"/>
          <p:cNvSpPr/>
          <p:nvPr/>
        </p:nvSpPr>
        <p:spPr>
          <a:xfrm>
            <a:off x="594360" y="1325880"/>
            <a:ext cx="384048" cy="384048"/>
          </a:xfrm>
          <a:prstGeom prst="ellipse">
            <a:avLst/>
          </a:prstGeom>
          <a:solidFill>
            <a:schemeClr val="accent1"/>
          </a:solidFill>
          <a:ln w="12700">
            <a:solidFill>
              <a:schemeClr val="accent1"/>
            </a:solidFill>
            <a:prstDash val="solid"/>
          </a:ln>
        </p:spPr>
      </p:sp>
      <p:sp>
        <p:nvSpPr>
          <p:cNvPr id="6" name="Step number 1"/>
          <p:cNvSpPr txBox="1"/>
          <p:nvPr/>
        </p:nvSpPr>
        <p:spPr>
          <a:xfrm>
            <a:off x="59436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Step title 1"/>
          <p:cNvSpPr txBox="1"/>
          <p:nvPr/>
        </p:nvSpPr>
        <p:spPr>
          <a:xfrm>
            <a:off x="594360" y="1810512"/>
            <a:ext cx="1280160"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Read</a:t>
            </a:r>
            <a:endParaRPr lang="en-US" sz="1600" dirty="0"/>
          </a:p>
        </p:txBody>
      </p:sp>
      <p:sp>
        <p:nvSpPr>
          <p:cNvPr id="8" name="Step text 1"/>
          <p:cNvSpPr txBox="1"/>
          <p:nvPr/>
        </p:nvSpPr>
        <p:spPr>
          <a:xfrm>
            <a:off x="594360" y="2176272"/>
            <a:ext cx="1280160" cy="8686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CSV from HDFS, schema inferred</a:t>
            </a:r>
            <a:endParaRPr lang="en-US" sz="1200" dirty="0"/>
          </a:p>
        </p:txBody>
      </p:sp>
      <p:sp>
        <p:nvSpPr>
          <p:cNvPr id="9" name="Step card 2"/>
          <p:cNvSpPr/>
          <p:nvPr/>
        </p:nvSpPr>
        <p:spPr>
          <a:xfrm>
            <a:off x="2121408" y="1188720"/>
            <a:ext cx="1554480" cy="1965960"/>
          </a:xfrm>
          <a:prstGeom prst="roundRect">
            <a:avLst>
              <a:gd name="adj" fmla="val 4706"/>
            </a:avLst>
          </a:prstGeom>
          <a:solidFill>
            <a:schemeClr val="bg2"/>
          </a:solidFill>
          <a:ln w="12700">
            <a:solidFill>
              <a:schemeClr val="bg2"/>
            </a:solidFill>
            <a:prstDash val="solid"/>
          </a:ln>
        </p:spPr>
      </p:sp>
      <p:sp>
        <p:nvSpPr>
          <p:cNvPr id="10" name="Step badge 2"/>
          <p:cNvSpPr/>
          <p:nvPr/>
        </p:nvSpPr>
        <p:spPr>
          <a:xfrm>
            <a:off x="2258568" y="1325880"/>
            <a:ext cx="384048" cy="384048"/>
          </a:xfrm>
          <a:prstGeom prst="ellipse">
            <a:avLst/>
          </a:prstGeom>
          <a:solidFill>
            <a:schemeClr val="accent1"/>
          </a:solidFill>
          <a:ln w="12700">
            <a:solidFill>
              <a:schemeClr val="accent1"/>
            </a:solidFill>
            <a:prstDash val="solid"/>
          </a:ln>
        </p:spPr>
      </p:sp>
      <p:sp>
        <p:nvSpPr>
          <p:cNvPr id="11" name="Step number 2"/>
          <p:cNvSpPr txBox="1"/>
          <p:nvPr/>
        </p:nvSpPr>
        <p:spPr>
          <a:xfrm>
            <a:off x="2258568"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2" name="Step title 2"/>
          <p:cNvSpPr txBox="1"/>
          <p:nvPr/>
        </p:nvSpPr>
        <p:spPr>
          <a:xfrm>
            <a:off x="2258568" y="1810512"/>
            <a:ext cx="1280160"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Check</a:t>
            </a:r>
            <a:endParaRPr lang="en-US" sz="1600" dirty="0"/>
          </a:p>
        </p:txBody>
      </p:sp>
      <p:sp>
        <p:nvSpPr>
          <p:cNvPr id="13" name="Step text 2"/>
          <p:cNvSpPr txBox="1"/>
          <p:nvPr/>
        </p:nvSpPr>
        <p:spPr>
          <a:xfrm>
            <a:off x="2258568" y="2176272"/>
            <a:ext cx="1280160" cy="8686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0 nulls, 0 duplicates, 0 bad labels</a:t>
            </a:r>
            <a:endParaRPr lang="en-US" sz="1200" dirty="0"/>
          </a:p>
        </p:txBody>
      </p:sp>
      <p:sp>
        <p:nvSpPr>
          <p:cNvPr id="14" name="Step card 3"/>
          <p:cNvSpPr/>
          <p:nvPr/>
        </p:nvSpPr>
        <p:spPr>
          <a:xfrm>
            <a:off x="3785616" y="1188720"/>
            <a:ext cx="1554480" cy="1965960"/>
          </a:xfrm>
          <a:prstGeom prst="roundRect">
            <a:avLst>
              <a:gd name="adj" fmla="val 4706"/>
            </a:avLst>
          </a:prstGeom>
          <a:solidFill>
            <a:schemeClr val="bg2"/>
          </a:solidFill>
          <a:ln w="12700">
            <a:solidFill>
              <a:schemeClr val="bg2"/>
            </a:solidFill>
            <a:prstDash val="solid"/>
          </a:ln>
        </p:spPr>
      </p:sp>
      <p:sp>
        <p:nvSpPr>
          <p:cNvPr id="15" name="Step badge 3"/>
          <p:cNvSpPr/>
          <p:nvPr/>
        </p:nvSpPr>
        <p:spPr>
          <a:xfrm>
            <a:off x="3922776" y="1325880"/>
            <a:ext cx="384048" cy="384048"/>
          </a:xfrm>
          <a:prstGeom prst="ellipse">
            <a:avLst/>
          </a:prstGeom>
          <a:solidFill>
            <a:schemeClr val="accent1"/>
          </a:solidFill>
          <a:ln w="12700">
            <a:solidFill>
              <a:schemeClr val="accent1"/>
            </a:solidFill>
            <a:prstDash val="solid"/>
          </a:ln>
        </p:spPr>
      </p:sp>
      <p:sp>
        <p:nvSpPr>
          <p:cNvPr id="16" name="Step number 3"/>
          <p:cNvSpPr txBox="1"/>
          <p:nvPr/>
        </p:nvSpPr>
        <p:spPr>
          <a:xfrm>
            <a:off x="3922776"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7" name="Step title 3"/>
          <p:cNvSpPr txBox="1"/>
          <p:nvPr/>
        </p:nvSpPr>
        <p:spPr>
          <a:xfrm>
            <a:off x="3922776" y="1810512"/>
            <a:ext cx="1280160"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Transform</a:t>
            </a:r>
            <a:endParaRPr lang="en-US" sz="1600" dirty="0"/>
          </a:p>
        </p:txBody>
      </p:sp>
      <p:sp>
        <p:nvSpPr>
          <p:cNvPr id="18" name="Step text 3"/>
          <p:cNvSpPr txBox="1"/>
          <p:nvPr/>
        </p:nvSpPr>
        <p:spPr>
          <a:xfrm>
            <a:off x="3922776" y="2176272"/>
            <a:ext cx="1280160" cy="8686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hour, night flag, velocity, amount band; cache()</a:t>
            </a:r>
            <a:endParaRPr lang="en-US" sz="1200" dirty="0"/>
          </a:p>
        </p:txBody>
      </p:sp>
      <p:sp>
        <p:nvSpPr>
          <p:cNvPr id="19" name="Step card 4"/>
          <p:cNvSpPr/>
          <p:nvPr/>
        </p:nvSpPr>
        <p:spPr>
          <a:xfrm>
            <a:off x="5449824" y="1188720"/>
            <a:ext cx="1554480" cy="1965960"/>
          </a:xfrm>
          <a:prstGeom prst="roundRect">
            <a:avLst>
              <a:gd name="adj" fmla="val 4706"/>
            </a:avLst>
          </a:prstGeom>
          <a:solidFill>
            <a:schemeClr val="bg2"/>
          </a:solidFill>
          <a:ln w="12700">
            <a:solidFill>
              <a:schemeClr val="bg2"/>
            </a:solidFill>
            <a:prstDash val="solid"/>
          </a:ln>
        </p:spPr>
      </p:sp>
      <p:sp>
        <p:nvSpPr>
          <p:cNvPr id="20" name="Step badge 4"/>
          <p:cNvSpPr/>
          <p:nvPr/>
        </p:nvSpPr>
        <p:spPr>
          <a:xfrm>
            <a:off x="5586984" y="1325880"/>
            <a:ext cx="384048" cy="384048"/>
          </a:xfrm>
          <a:prstGeom prst="ellipse">
            <a:avLst/>
          </a:prstGeom>
          <a:solidFill>
            <a:schemeClr val="accent1"/>
          </a:solidFill>
          <a:ln w="12700">
            <a:solidFill>
              <a:schemeClr val="accent1"/>
            </a:solidFill>
            <a:prstDash val="solid"/>
          </a:ln>
        </p:spPr>
      </p:sp>
      <p:sp>
        <p:nvSpPr>
          <p:cNvPr id="21" name="Step number 4"/>
          <p:cNvSpPr txBox="1"/>
          <p:nvPr/>
        </p:nvSpPr>
        <p:spPr>
          <a:xfrm>
            <a:off x="5586984"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2" name="Step title 4"/>
          <p:cNvSpPr txBox="1"/>
          <p:nvPr/>
        </p:nvSpPr>
        <p:spPr>
          <a:xfrm>
            <a:off x="5586984" y="1810512"/>
            <a:ext cx="1280160"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Analyse</a:t>
            </a:r>
            <a:endParaRPr lang="en-US" sz="1600" dirty="0"/>
          </a:p>
        </p:txBody>
      </p:sp>
      <p:sp>
        <p:nvSpPr>
          <p:cNvPr id="23" name="Step text 4"/>
          <p:cNvSpPr txBox="1"/>
          <p:nvPr/>
        </p:nvSpPr>
        <p:spPr>
          <a:xfrm>
            <a:off x="5586984" y="2176272"/>
            <a:ext cx="1280160" cy="8686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11 aggregations, window ranks, 7-day trend, broadcast join</a:t>
            </a:r>
            <a:endParaRPr lang="en-US" sz="1200" dirty="0"/>
          </a:p>
        </p:txBody>
      </p:sp>
      <p:sp>
        <p:nvSpPr>
          <p:cNvPr id="24" name="Step card 5"/>
          <p:cNvSpPr/>
          <p:nvPr/>
        </p:nvSpPr>
        <p:spPr>
          <a:xfrm>
            <a:off x="7114032" y="1188720"/>
            <a:ext cx="1554480" cy="1965960"/>
          </a:xfrm>
          <a:prstGeom prst="roundRect">
            <a:avLst>
              <a:gd name="adj" fmla="val 4706"/>
            </a:avLst>
          </a:prstGeom>
          <a:solidFill>
            <a:schemeClr val="bg2"/>
          </a:solidFill>
          <a:ln w="12700">
            <a:solidFill>
              <a:schemeClr val="bg2"/>
            </a:solidFill>
            <a:prstDash val="solid"/>
          </a:ln>
        </p:spPr>
      </p:sp>
      <p:sp>
        <p:nvSpPr>
          <p:cNvPr id="25" name="Step badge 5"/>
          <p:cNvSpPr/>
          <p:nvPr/>
        </p:nvSpPr>
        <p:spPr>
          <a:xfrm>
            <a:off x="7251192" y="1325880"/>
            <a:ext cx="384048" cy="384048"/>
          </a:xfrm>
          <a:prstGeom prst="ellipse">
            <a:avLst/>
          </a:prstGeom>
          <a:solidFill>
            <a:schemeClr val="accent1"/>
          </a:solidFill>
          <a:ln w="12700">
            <a:solidFill>
              <a:schemeClr val="accent1"/>
            </a:solidFill>
            <a:prstDash val="solid"/>
          </a:ln>
        </p:spPr>
      </p:sp>
      <p:sp>
        <p:nvSpPr>
          <p:cNvPr id="26" name="Step number 5"/>
          <p:cNvSpPr txBox="1"/>
          <p:nvPr/>
        </p:nvSpPr>
        <p:spPr>
          <a:xfrm>
            <a:off x="7251192"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27" name="Step title 5"/>
          <p:cNvSpPr txBox="1"/>
          <p:nvPr/>
        </p:nvSpPr>
        <p:spPr>
          <a:xfrm>
            <a:off x="7251192" y="1810512"/>
            <a:ext cx="1280160"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Write</a:t>
            </a:r>
            <a:endParaRPr lang="en-US" sz="1600" dirty="0"/>
          </a:p>
        </p:txBody>
      </p:sp>
      <p:sp>
        <p:nvSpPr>
          <p:cNvPr id="28" name="Step text 5"/>
          <p:cNvSpPr txBox="1"/>
          <p:nvPr/>
        </p:nvSpPr>
        <p:spPr>
          <a:xfrm>
            <a:off x="7251192" y="2176272"/>
            <a:ext cx="1280160" cy="8686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CSV tables and partitioned Parquet to HDFS</a:t>
            </a:r>
            <a:endParaRPr lang="en-US" sz="1200" dirty="0"/>
          </a:p>
        </p:txBody>
      </p:sp>
      <p:sp>
        <p:nvSpPr>
          <p:cNvPr id="29" name="Code block"/>
          <p:cNvSpPr txBox="1"/>
          <p:nvPr/>
        </p:nvSpPr>
        <p:spPr>
          <a:xfrm>
            <a:off x="457200" y="3383280"/>
            <a:ext cx="5120640" cy="1234440"/>
          </a:xfrm>
          <a:prstGeom prst="rect">
            <a:avLst/>
          </a:prstGeom>
          <a:solidFill>
            <a:schemeClr val="bg2"/>
          </a:solidFill>
          <a:ln/>
        </p:spPr>
        <p:txBody>
          <a:bodyPr wrap="square" lIns="1524" tIns="1524" rIns="1524" bIns="1524"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w = Window.partitionBy("channel")</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.orderBy(F.desc("fraud_pct"))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ranked = cc.withColumn("rank",</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F.row_number().over(w))</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df2 = df2.repartition(8).cache()</a:t>
            </a:r>
            <a:endParaRPr lang="en-US" sz="1100" dirty="0"/>
          </a:p>
        </p:txBody>
      </p:sp>
      <p:sp>
        <p:nvSpPr>
          <p:cNvPr id="30" name="Rows card"/>
          <p:cNvSpPr/>
          <p:nvPr/>
        </p:nvSpPr>
        <p:spPr>
          <a:xfrm>
            <a:off x="5852160" y="3383280"/>
            <a:ext cx="1325880" cy="1234440"/>
          </a:xfrm>
          <a:prstGeom prst="roundRect">
            <a:avLst>
              <a:gd name="adj" fmla="val 5926"/>
            </a:avLst>
          </a:prstGeom>
          <a:solidFill>
            <a:schemeClr val="bg2"/>
          </a:solidFill>
          <a:ln w="12700">
            <a:solidFill>
              <a:schemeClr val="bg2"/>
            </a:solidFill>
            <a:prstDash val="solid"/>
          </a:ln>
        </p:spPr>
      </p:sp>
      <p:sp>
        <p:nvSpPr>
          <p:cNvPr id="31" name="Rows value"/>
          <p:cNvSpPr txBox="1"/>
          <p:nvPr/>
        </p:nvSpPr>
        <p:spPr>
          <a:xfrm>
            <a:off x="5989320" y="3456432"/>
            <a:ext cx="1051560" cy="678942"/>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1M</a:t>
            </a:r>
            <a:endParaRPr lang="en-US" sz="2400" dirty="0"/>
          </a:p>
        </p:txBody>
      </p:sp>
      <p:sp>
        <p:nvSpPr>
          <p:cNvPr id="32" name="Rows label"/>
          <p:cNvSpPr txBox="1"/>
          <p:nvPr/>
        </p:nvSpPr>
        <p:spPr>
          <a:xfrm>
            <a:off x="5989320" y="4099255"/>
            <a:ext cx="1051560" cy="444398"/>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rows processed</a:t>
            </a:r>
            <a:endParaRPr lang="en-US" sz="1200" dirty="0"/>
          </a:p>
        </p:txBody>
      </p:sp>
      <p:sp>
        <p:nvSpPr>
          <p:cNvPr id="33" name="Time card"/>
          <p:cNvSpPr/>
          <p:nvPr/>
        </p:nvSpPr>
        <p:spPr>
          <a:xfrm>
            <a:off x="7360920" y="3383280"/>
            <a:ext cx="1325880" cy="1234440"/>
          </a:xfrm>
          <a:prstGeom prst="roundRect">
            <a:avLst>
              <a:gd name="adj" fmla="val 5926"/>
            </a:avLst>
          </a:prstGeom>
          <a:solidFill>
            <a:schemeClr val="bg2"/>
          </a:solidFill>
          <a:ln w="12700">
            <a:solidFill>
              <a:schemeClr val="bg2"/>
            </a:solidFill>
            <a:prstDash val="solid"/>
          </a:ln>
        </p:spPr>
      </p:sp>
      <p:sp>
        <p:nvSpPr>
          <p:cNvPr id="34" name="Time value"/>
          <p:cNvSpPr txBox="1"/>
          <p:nvPr/>
        </p:nvSpPr>
        <p:spPr>
          <a:xfrm>
            <a:off x="7498080" y="3456432"/>
            <a:ext cx="1051560" cy="678942"/>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3.6 min</a:t>
            </a:r>
            <a:endParaRPr lang="en-US" sz="2200" dirty="0"/>
          </a:p>
        </p:txBody>
      </p:sp>
      <p:sp>
        <p:nvSpPr>
          <p:cNvPr id="35" name="Time label"/>
          <p:cNvSpPr txBox="1"/>
          <p:nvPr/>
        </p:nvSpPr>
        <p:spPr>
          <a:xfrm>
            <a:off x="7498080" y="4099255"/>
            <a:ext cx="1051560" cy="444398"/>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full run, 2 cores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A 1% review queue catches 23.6% of fraud</a:t>
            </a:r>
            <a:endParaRPr lang="en-US" sz="2600" dirty="0"/>
          </a:p>
        </p:txBody>
      </p:sp>
      <p:graphicFrame>
        <p:nvGraphicFramePr>
          <p:cNvPr id="4" name="Chart 0" descr=""/>
          <p:cNvGraphicFramePr/>
          <p:nvPr/>
        </p:nvGraphicFramePr>
        <p:xfrm>
          <a:off x="365760" y="1051560"/>
          <a:ext cx="5394960" cy="3611880"/>
        </p:xfrm>
        <a:graphic xmlns:a="http://schemas.openxmlformats.org/drawingml/2006/main">
          <a:graphicData uri="http://schemas.openxmlformats.org/drawingml/2006/chart">
            <c:chart xmlns:c="http://schemas.openxmlformats.org/drawingml/2006/chart" r:id="rId1"/>
          </a:graphicData>
        </a:graphic>
      </p:graphicFrame>
      <p:sp>
        <p:nvSpPr>
          <p:cNvPr id="5" name="AUC card"/>
          <p:cNvSpPr/>
          <p:nvPr/>
        </p:nvSpPr>
        <p:spPr>
          <a:xfrm>
            <a:off x="6035040" y="1188720"/>
            <a:ext cx="2651760" cy="1051560"/>
          </a:xfrm>
          <a:prstGeom prst="roundRect">
            <a:avLst>
              <a:gd name="adj" fmla="val 6957"/>
            </a:avLst>
          </a:prstGeom>
          <a:solidFill>
            <a:schemeClr val="bg2"/>
          </a:solidFill>
          <a:ln w="12700">
            <a:solidFill>
              <a:schemeClr val="bg2"/>
            </a:solidFill>
            <a:prstDash val="solid"/>
          </a:ln>
        </p:spPr>
      </p:sp>
      <p:sp>
        <p:nvSpPr>
          <p:cNvPr id="6" name="AUC value"/>
          <p:cNvSpPr txBox="1"/>
          <p:nvPr/>
        </p:nvSpPr>
        <p:spPr>
          <a:xfrm>
            <a:off x="6172200" y="1261872"/>
            <a:ext cx="2377440" cy="578358"/>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0.861</a:t>
            </a:r>
            <a:endParaRPr lang="en-US" sz="2800" dirty="0"/>
          </a:p>
        </p:txBody>
      </p:sp>
      <p:sp>
        <p:nvSpPr>
          <p:cNvPr id="7" name="AUC label"/>
          <p:cNvSpPr txBox="1"/>
          <p:nvPr/>
        </p:nvSpPr>
        <p:spPr>
          <a:xfrm>
            <a:off x="6172200" y="1798625"/>
            <a:ext cx="2377440" cy="378562"/>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AUC-ROC, logistic regression (best)</a:t>
            </a:r>
            <a:endParaRPr lang="en-US" sz="1200" dirty="0"/>
          </a:p>
        </p:txBody>
      </p:sp>
      <p:sp>
        <p:nvSpPr>
          <p:cNvPr id="8" name="Lift card"/>
          <p:cNvSpPr/>
          <p:nvPr/>
        </p:nvSpPr>
        <p:spPr>
          <a:xfrm>
            <a:off x="6035040" y="2377440"/>
            <a:ext cx="2651760" cy="1051560"/>
          </a:xfrm>
          <a:prstGeom prst="roundRect">
            <a:avLst>
              <a:gd name="adj" fmla="val 6957"/>
            </a:avLst>
          </a:prstGeom>
          <a:solidFill>
            <a:schemeClr val="bg2"/>
          </a:solidFill>
          <a:ln w="12700">
            <a:solidFill>
              <a:schemeClr val="bg2"/>
            </a:solidFill>
            <a:prstDash val="solid"/>
          </a:ln>
        </p:spPr>
      </p:sp>
      <p:sp>
        <p:nvSpPr>
          <p:cNvPr id="9" name="Lift value"/>
          <p:cNvSpPr txBox="1"/>
          <p:nvPr/>
        </p:nvSpPr>
        <p:spPr>
          <a:xfrm>
            <a:off x="6172200" y="2450592"/>
            <a:ext cx="2377440" cy="578358"/>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22.8x</a:t>
            </a:r>
            <a:endParaRPr lang="en-US" sz="2800" dirty="0"/>
          </a:p>
        </p:txBody>
      </p:sp>
      <p:sp>
        <p:nvSpPr>
          <p:cNvPr id="10" name="Lift label"/>
          <p:cNvSpPr txBox="1"/>
          <p:nvPr/>
        </p:nvSpPr>
        <p:spPr>
          <a:xfrm>
            <a:off x="6172200" y="2987345"/>
            <a:ext cx="2377440" cy="378562"/>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lift over random review at top 1%</a:t>
            </a:r>
            <a:endParaRPr lang="en-US" sz="1200" dirty="0"/>
          </a:p>
        </p:txBody>
      </p:sp>
      <p:sp>
        <p:nvSpPr>
          <p:cNvPr id="11" name="Model note"/>
          <p:cNvSpPr txBox="1"/>
          <p:nvPr/>
        </p:nvSpPr>
        <p:spPr>
          <a:xfrm>
            <a:off x="6035040" y="3566160"/>
            <a:ext cx="2651760" cy="10972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Time-based split: train Jan to Sep, test Oct to Dec. About 88% of the flagged queue is still genuine, so use the score to prioritise review, not to block.</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HBase, Pig and how the pieces agree</a:t>
            </a:r>
            <a:endParaRPr lang="en-US" sz="2600" dirty="0"/>
          </a:p>
        </p:txBody>
      </p:sp>
      <p:sp>
        <p:nvSpPr>
          <p:cNvPr id="4" name="HBase card"/>
          <p:cNvSpPr/>
          <p:nvPr/>
        </p:nvSpPr>
        <p:spPr>
          <a:xfrm>
            <a:off x="457200" y="1188720"/>
            <a:ext cx="2651760" cy="3108960"/>
          </a:xfrm>
          <a:prstGeom prst="roundRect">
            <a:avLst>
              <a:gd name="adj" fmla="val 2759"/>
            </a:avLst>
          </a:prstGeom>
          <a:solidFill>
            <a:schemeClr val="bg2"/>
          </a:solidFill>
          <a:ln w="12700">
            <a:solidFill>
              <a:schemeClr val="bg2"/>
            </a:solidFill>
            <a:prstDash val="solid"/>
          </a:ln>
        </p:spPr>
      </p:sp>
      <p:sp>
        <p:nvSpPr>
          <p:cNvPr id="5" name="HBase badge"/>
          <p:cNvSpPr/>
          <p:nvPr/>
        </p:nvSpPr>
        <p:spPr>
          <a:xfrm>
            <a:off x="640080" y="1371600"/>
            <a:ext cx="502920" cy="502920"/>
          </a:xfrm>
          <a:prstGeom prst="ellipse">
            <a:avLst/>
          </a:prstGeom>
          <a:solidFill>
            <a:schemeClr val="accent1"/>
          </a:solidFill>
          <a:ln w="12700">
            <a:solidFill>
              <a:schemeClr val="accent1"/>
            </a:solidFill>
            <a:prstDash val="solid"/>
          </a:ln>
        </p:spPr>
      </p:sp>
      <p:sp>
        <p:nvSpPr>
          <p:cNvPr id="6" name="HBase letter"/>
          <p:cNvSpPr txBox="1"/>
          <p:nvPr/>
        </p:nvSpPr>
        <p:spPr>
          <a:xfrm>
            <a:off x="640080" y="13716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H</a:t>
            </a:r>
            <a:endParaRPr lang="en-US" sz="2000" dirty="0"/>
          </a:p>
        </p:txBody>
      </p:sp>
      <p:sp>
        <p:nvSpPr>
          <p:cNvPr id="7" name="HBase title"/>
          <p:cNvSpPr txBox="1"/>
          <p:nvPr/>
        </p:nvSpPr>
        <p:spPr>
          <a:xfrm>
            <a:off x="640080" y="2011680"/>
            <a:ext cx="228600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HBase</a:t>
            </a:r>
            <a:endParaRPr lang="en-US" sz="2000" dirty="0"/>
          </a:p>
        </p:txBody>
      </p:sp>
      <p:sp>
        <p:nvSpPr>
          <p:cNvPr id="8" name="HBase subtitle"/>
          <p:cNvSpPr txBox="1"/>
          <p:nvPr/>
        </p:nvSpPr>
        <p:spPr>
          <a:xfrm>
            <a:off x="640080" y="2395728"/>
            <a:ext cx="2286000" cy="27432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Card risk lookup</a:t>
            </a:r>
            <a:endParaRPr lang="en-US" sz="1300" dirty="0"/>
          </a:p>
        </p:txBody>
      </p:sp>
      <p:sp>
        <p:nvSpPr>
          <p:cNvPr id="9" name="HBase text"/>
          <p:cNvSpPr txBox="1"/>
          <p:nvPr/>
        </p:nvSpPr>
        <p:spPr>
          <a:xfrm>
            <a:off x="640080" y="2743200"/>
            <a:ext cx="2286000" cy="1463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Row key = card_id; column family = profile. Loaded from the Spark card_risk_profile table: 161 high, 4,959 medium, 78,212 low-risk cards.</a:t>
            </a:r>
            <a:endParaRPr lang="en-US" sz="1300" dirty="0"/>
          </a:p>
        </p:txBody>
      </p:sp>
      <p:sp>
        <p:nvSpPr>
          <p:cNvPr id="10" name="Pig card"/>
          <p:cNvSpPr/>
          <p:nvPr/>
        </p:nvSpPr>
        <p:spPr>
          <a:xfrm>
            <a:off x="3291840" y="1188720"/>
            <a:ext cx="2651760" cy="3108960"/>
          </a:xfrm>
          <a:prstGeom prst="roundRect">
            <a:avLst>
              <a:gd name="adj" fmla="val 2759"/>
            </a:avLst>
          </a:prstGeom>
          <a:solidFill>
            <a:schemeClr val="bg2"/>
          </a:solidFill>
          <a:ln w="12700">
            <a:solidFill>
              <a:schemeClr val="bg2"/>
            </a:solidFill>
            <a:prstDash val="solid"/>
          </a:ln>
        </p:spPr>
      </p:sp>
      <p:sp>
        <p:nvSpPr>
          <p:cNvPr id="11" name="Pig badge"/>
          <p:cNvSpPr/>
          <p:nvPr/>
        </p:nvSpPr>
        <p:spPr>
          <a:xfrm>
            <a:off x="3474720" y="1371600"/>
            <a:ext cx="502920" cy="502920"/>
          </a:xfrm>
          <a:prstGeom prst="ellipse">
            <a:avLst/>
          </a:prstGeom>
          <a:solidFill>
            <a:schemeClr val="accent5"/>
          </a:solidFill>
          <a:ln w="12700">
            <a:solidFill>
              <a:schemeClr val="accent5"/>
            </a:solidFill>
            <a:prstDash val="solid"/>
          </a:ln>
        </p:spPr>
      </p:sp>
      <p:sp>
        <p:nvSpPr>
          <p:cNvPr id="12" name="Pig letter"/>
          <p:cNvSpPr txBox="1"/>
          <p:nvPr/>
        </p:nvSpPr>
        <p:spPr>
          <a:xfrm>
            <a:off x="3474720" y="13716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P</a:t>
            </a:r>
            <a:endParaRPr lang="en-US" sz="2000" dirty="0"/>
          </a:p>
        </p:txBody>
      </p:sp>
      <p:sp>
        <p:nvSpPr>
          <p:cNvPr id="13" name="Pig title"/>
          <p:cNvSpPr txBox="1"/>
          <p:nvPr/>
        </p:nvSpPr>
        <p:spPr>
          <a:xfrm>
            <a:off x="3474720" y="2011680"/>
            <a:ext cx="228600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Pig</a:t>
            </a:r>
            <a:endParaRPr lang="en-US" sz="2000" dirty="0"/>
          </a:p>
        </p:txBody>
      </p:sp>
      <p:sp>
        <p:nvSpPr>
          <p:cNvPr id="14" name="Pig subtitle"/>
          <p:cNvSpPr txBox="1"/>
          <p:nvPr/>
        </p:nvSpPr>
        <p:spPr>
          <a:xfrm>
            <a:off x="3474720" y="2395728"/>
            <a:ext cx="2286000" cy="274320"/>
          </a:xfrm>
          <a:prstGeom prst="rect">
            <a:avLst/>
          </a:prstGeom>
          <a:noFill/>
          <a:ln/>
        </p:spPr>
        <p:txBody>
          <a:bodyPr wrap="square" lIns="0" tIns="0" rIns="0" bIns="0" rtlCol="0" anchor="ctr"/>
          <a:lstStyle/>
          <a:p>
            <a:pPr indent="0" marL="0">
              <a:buNone/>
            </a:pPr>
            <a:r>
              <a:rPr lang="en-US" sz="1300" b="1" dirty="0">
                <a:solidFill>
                  <a:schemeClr val="accent5"/>
                </a:solidFill>
                <a:latin typeface="Calibri" pitchFamily="34" charset="0"/>
                <a:ea typeface="Calibri" pitchFamily="34" charset="-122"/>
                <a:cs typeface="Calibri" pitchFamily="34" charset="-120"/>
              </a:rPr>
              <a:t>Cross-check</a:t>
            </a:r>
            <a:endParaRPr lang="en-US" sz="1300" dirty="0"/>
          </a:p>
        </p:txBody>
      </p:sp>
      <p:sp>
        <p:nvSpPr>
          <p:cNvPr id="15" name="Pig text"/>
          <p:cNvSpPr txBox="1"/>
          <p:nvPr/>
        </p:nvSpPr>
        <p:spPr>
          <a:xfrm>
            <a:off x="3474720" y="2743200"/>
            <a:ext cx="2286000" cy="1463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Groups fraud count and amount by channel. Output must equal Hive Q3 and the Spark channel summary.</a:t>
            </a:r>
            <a:endParaRPr lang="en-US" sz="1300" dirty="0"/>
          </a:p>
        </p:txBody>
      </p:sp>
      <p:sp>
        <p:nvSpPr>
          <p:cNvPr id="16" name="Validation card"/>
          <p:cNvSpPr/>
          <p:nvPr/>
        </p:nvSpPr>
        <p:spPr>
          <a:xfrm>
            <a:off x="6126480" y="1188720"/>
            <a:ext cx="2651760" cy="3108960"/>
          </a:xfrm>
          <a:prstGeom prst="roundRect">
            <a:avLst>
              <a:gd name="adj" fmla="val 2759"/>
            </a:avLst>
          </a:prstGeom>
          <a:solidFill>
            <a:schemeClr val="bg2"/>
          </a:solidFill>
          <a:ln w="12700">
            <a:solidFill>
              <a:schemeClr val="bg2"/>
            </a:solidFill>
            <a:prstDash val="solid"/>
          </a:ln>
        </p:spPr>
      </p:sp>
      <p:sp>
        <p:nvSpPr>
          <p:cNvPr id="17" name="Validation badge"/>
          <p:cNvSpPr/>
          <p:nvPr/>
        </p:nvSpPr>
        <p:spPr>
          <a:xfrm>
            <a:off x="6309360" y="1371600"/>
            <a:ext cx="502920" cy="502920"/>
          </a:xfrm>
          <a:prstGeom prst="ellipse">
            <a:avLst/>
          </a:prstGeom>
          <a:solidFill>
            <a:schemeClr val="accent3"/>
          </a:solidFill>
          <a:ln w="12700">
            <a:solidFill>
              <a:schemeClr val="accent3"/>
            </a:solidFill>
            <a:prstDash val="solid"/>
          </a:ln>
        </p:spPr>
      </p:sp>
      <p:sp>
        <p:nvSpPr>
          <p:cNvPr id="18" name="Validation letter"/>
          <p:cNvSpPr txBox="1"/>
          <p:nvPr/>
        </p:nvSpPr>
        <p:spPr>
          <a:xfrm>
            <a:off x="6309360" y="13716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V</a:t>
            </a:r>
            <a:endParaRPr lang="en-US" sz="2000" dirty="0"/>
          </a:p>
        </p:txBody>
      </p:sp>
      <p:sp>
        <p:nvSpPr>
          <p:cNvPr id="19" name="Validation title"/>
          <p:cNvSpPr txBox="1"/>
          <p:nvPr/>
        </p:nvSpPr>
        <p:spPr>
          <a:xfrm>
            <a:off x="6309360" y="2011680"/>
            <a:ext cx="228600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Validation</a:t>
            </a:r>
            <a:endParaRPr lang="en-US" sz="2000" dirty="0"/>
          </a:p>
        </p:txBody>
      </p:sp>
      <p:sp>
        <p:nvSpPr>
          <p:cNvPr id="20" name="Validation subtitle"/>
          <p:cNvSpPr txBox="1"/>
          <p:nvPr/>
        </p:nvSpPr>
        <p:spPr>
          <a:xfrm>
            <a:off x="6309360" y="2395728"/>
            <a:ext cx="2286000" cy="27432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8 checks pass</a:t>
            </a:r>
            <a:endParaRPr lang="en-US" sz="1300" dirty="0"/>
          </a:p>
        </p:txBody>
      </p:sp>
      <p:sp>
        <p:nvSpPr>
          <p:cNvPr id="21" name="Validation text"/>
          <p:cNvSpPr txBox="1"/>
          <p:nvPr/>
        </p:nvSpPr>
        <p:spPr>
          <a:xfrm>
            <a:off x="6309360" y="2743200"/>
            <a:ext cx="2286000" cy="1463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Record counts, category and channel totals, month totals and train plus test rows all reconcile between Hive and Spark.</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What the business should do with this</a:t>
            </a:r>
            <a:endParaRPr lang="en-US" sz="2600" dirty="0"/>
          </a:p>
        </p:txBody>
      </p:sp>
      <p:graphicFrame>
        <p:nvGraphicFramePr>
          <p:cNvPr id="12" name="Actions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206240"/>
                <a:gridCol w="402336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2A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Recommended action</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2A47"/>
                    </a:solidFill>
                  </a:tcPr>
                </a:tc>
              </a:tr>
              <a:tr h="56692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Gift cards, jewelry, electronics: 2.6x to 3.8x average fraud</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Step-up authentication on first-time high-value purchases</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6692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Online card-not-present: 68.8% of all fraud</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Mandatory 3-D Secure / OTP on risky online payments</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6692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23:00 to 04:59: more than twice the rate</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Raise the risk score at night; alert the cardholder in-app</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6692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International plus 5 or more transactions in 24 h: 7.41%</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Velocity rule: hold the card and ask for confirmation</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6692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Top 1% by model score holds 23.6% of fraud</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Prioritise analyst queues by score; combine with rules</a:t>
                      </a:r>
                      <a:endParaRPr lang="en-US" sz="1300" dirty="0">
                        <a:latin typeface="Calibri" charset="0"/>
                        <a:ea typeface="Calibri" charset="0"/>
                        <a:cs typeface="Calibri" charset="0"/>
                      </a:endParaRPr>
                    </a:p>
                  </a:txBody>
                  <a:tcPr marL="109728" marR="109728"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Who built what</a:t>
            </a:r>
            <a:endParaRPr lang="en-US" sz="2600" dirty="0"/>
          </a:p>
        </p:txBody>
      </p:sp>
      <p:graphicFrame>
        <p:nvGraphicFramePr>
          <p:cNvPr id="13" name="Team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737360"/>
                <a:gridCol w="2011680"/>
                <a:gridCol w="2377440"/>
                <a:gridCol w="210312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Student</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2A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Responsibility</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2A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2A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Can explain</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2A47"/>
                    </a:solidFill>
                  </a:tcPr>
                </a:tc>
              </a:tr>
              <a:tr h="457200">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1  ____________</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Ingestion + HDFS</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hdfs/, hdfs_connect.py</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Blocks, NameNode, DataNode</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57200">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2  ____________</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Hive + data model</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hive/ (DDL, 8 queries)</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External table, query logic</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57200">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3  ____________</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Spark + PySpark</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spark/fraud_analysis.py</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Transformations, ML pipeline</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57200">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4  ____________</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HBase / Pig</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hbase/, pig/</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Row key, why HBase</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57200">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5  ____________</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Integration + docs</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README, report, results</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End-to-end flow, validation</a:t>
                      </a:r>
                      <a:endParaRPr lang="en-US" sz="1300" dirty="0">
                        <a:latin typeface="Calibri" charset="0"/>
                        <a:ea typeface="Calibri" charset="0"/>
                        <a:cs typeface="Calibri" charset="0"/>
                      </a:endParaRPr>
                    </a:p>
                  </a:txBody>
                  <a:tcPr marL="91440" marR="91440"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5" name="Repo line"/>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400" dirty="0">
                <a:solidFill>
                  <a:schemeClr val="accent1"/>
                </a:solidFill>
                <a:latin typeface="Calibri" pitchFamily="34" charset="0"/>
                <a:ea typeface="Calibri" pitchFamily="34" charset="-122"/>
                <a:cs typeface="Calibri" pitchFamily="34" charset="-120"/>
              </a:rPr>
              <a:t>Repository: github.com/____________/credit-card-fraud-bigdata</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losing title"/>
          <p:cNvSpPr txBox="1"/>
          <p:nvPr/>
        </p:nvSpPr>
        <p:spPr>
          <a:xfrm>
            <a:off x="548640" y="548640"/>
            <a:ext cx="8046720" cy="73152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Limits and next steps</a:t>
            </a:r>
            <a:endParaRPr lang="en-US" sz="3200" dirty="0"/>
          </a:p>
        </p:txBody>
      </p:sp>
      <p:sp>
        <p:nvSpPr>
          <p:cNvPr id="3" name="Limits heading"/>
          <p:cNvSpPr txBox="1"/>
          <p:nvPr/>
        </p:nvSpPr>
        <p:spPr>
          <a:xfrm>
            <a:off x="548640" y="1508760"/>
            <a:ext cx="374904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Limits</a:t>
            </a:r>
            <a:endParaRPr lang="en-US" sz="1800" dirty="0"/>
          </a:p>
        </p:txBody>
      </p:sp>
      <p:sp>
        <p:nvSpPr>
          <p:cNvPr id="4" name="Limits list"/>
          <p:cNvSpPr txBox="1"/>
          <p:nvPr/>
        </p:nvSpPr>
        <p:spPr>
          <a:xfrm>
            <a:off x="548640" y="1965960"/>
            <a:ext cx="374904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Synthetic data with fraud patterns built in</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Spark ran in local mode; no cluster speed-up measured</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AUC-PR is modest (0.078) because labels contain noise</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Batch only; real-time scoring needs streaming</a:t>
            </a:r>
            <a:endParaRPr lang="en-US" sz="1400" dirty="0"/>
          </a:p>
        </p:txBody>
      </p:sp>
      <p:sp>
        <p:nvSpPr>
          <p:cNvPr id="5" name="Next steps heading"/>
          <p:cNvSpPr txBox="1"/>
          <p:nvPr/>
        </p:nvSpPr>
        <p:spPr>
          <a:xfrm>
            <a:off x="4663440" y="1508760"/>
            <a:ext cx="374904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Next steps</a:t>
            </a:r>
            <a:endParaRPr lang="en-US" sz="1800" dirty="0"/>
          </a:p>
        </p:txBody>
      </p:sp>
      <p:sp>
        <p:nvSpPr>
          <p:cNvPr id="6" name="Next steps list"/>
          <p:cNvSpPr txBox="1"/>
          <p:nvPr/>
        </p:nvSpPr>
        <p:spPr>
          <a:xfrm>
            <a:off x="4663440" y="1965960"/>
            <a:ext cx="374904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Run HDFS, Hive, YARN, HBase and Pig in Docker and capture evidence</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Repeat on a real transaction dataset</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Add merchant history and device features</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Add a streaming layer for live scoring</a:t>
            </a:r>
            <a:endParaRPr lang="en-US" sz="1400" dirty="0"/>
          </a:p>
        </p:txBody>
      </p:sp>
      <p:sp>
        <p:nvSpPr>
          <p:cNvPr id="7" name="Closing line"/>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Thank you. Questions?</a:t>
            </a:r>
            <a:endParaRPr lang="en-US" sz="1600" dirty="0"/>
          </a:p>
        </p:txBody>
      </p:sp>
    </p:spTree>
  </p:cSld>
  <p:clrMapOvr>
    <a:masterClrMapping/>
  </p:clrMapOvr>
</p:sld>
</file>

<file path=ppt/theme/theme1.xml><?xml version="1.0" encoding="utf-8"?>
<a:theme xmlns:a="http://schemas.openxmlformats.org/drawingml/2006/main" name="Fraud Ledger">
  <a:themeElements>
    <a:clrScheme name="Fraud Ledger">
      <a:dk1>
        <a:srgbClr val="14202B"/>
      </a:dk1>
      <a:lt1>
        <a:srgbClr val="FFFFFF"/>
      </a:lt1>
      <a:dk2>
        <a:srgbClr val="0F2A47"/>
      </a:dk2>
      <a:lt2>
        <a:srgbClr val="EDF1F6"/>
      </a:lt2>
      <a:accent1>
        <a:srgbClr val="2F6FB5"/>
      </a:accent1>
      <a:accent2>
        <a:srgbClr val="D2412F"/>
      </a:accent2>
      <a:accent3>
        <a:srgbClr val="2A7A58"/>
      </a:accent3>
      <a:accent4>
        <a:srgbClr val="B7791F"/>
      </a:accent4>
      <a:accent5>
        <a:srgbClr val="5B6B7C"/>
      </a:accent5>
      <a:accent6>
        <a:srgbClr val="9FBFE3"/>
      </a:accent6>
      <a:hlink>
        <a:srgbClr val="2F6FB5"/>
      </a:hlink>
      <a:folHlink>
        <a:srgbClr val="5B6B7C"/>
      </a:folHlink>
    </a:clrScheme>
    <a:fontScheme name="Fraud 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 Big Data Capstone</dc:title>
  <dc:subject>PptxGenJS Presentation</dc:subject>
  <dc:creator>Group 2</dc:creator>
  <cp:lastModifiedBy>Group 2</cp:lastModifiedBy>
  <cp:revision>1</cp:revision>
  <dcterms:created xsi:type="dcterms:W3CDTF">2026-10-07T06:47:36Z</dcterms:created>
  <dcterms:modified xsi:type="dcterms:W3CDTF">2026-10-07T06:47:36Z</dcterms:modified>
</cp:coreProperties>
</file>